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2352A0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2436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</c:formatCode>
              <c:ptCount val="3"/>
              <c:pt idx="0">
                <c:v>93.16</c:v>
              </c:pt>
              <c:pt idx="1">
                <c:v>91.92</c:v>
              </c:pt>
              <c:pt idx="2">
                <c:v>92.91</c:v>
              </c:pt>
            </c:numLit>
          </c:val>
          <c:extLst>
            <c:ext xmlns:c16="http://schemas.microsoft.com/office/drawing/2014/chart" uri="{C3380CC4-5D6E-409C-BE32-E72D297353CC}">
              <c16:uniqueId val="{00000000-9CB9-4B1E-A7EF-D367DABFF88B}"/>
            </c:ext>
          </c:extLst>
        </c:ser>
        <c:ser>
          <c:idx val="1"/>
          <c:order val="1"/>
          <c:tx>
            <c:v>Balanced accuracy</c:v>
          </c:tx>
          <c:spPr>
            <a:solidFill>
              <a:srgbClr val="0BAA6E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2436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TFLite FP32</c:v>
              </c:pt>
              <c:pt idx="1">
                <c:v>TFLite FP16</c:v>
              </c:pt>
              <c:pt idx="2">
                <c:v>TFLite INT8</c:v>
              </c:pt>
            </c:strLit>
          </c:cat>
          <c:val>
            <c:numLit>
              <c:formatCode>0</c:formatCode>
              <c:ptCount val="3"/>
              <c:pt idx="0">
                <c:v>94.63</c:v>
              </c:pt>
              <c:pt idx="1">
                <c:v>93.71</c:v>
              </c:pt>
              <c:pt idx="2">
                <c:v>93.86</c:v>
              </c:pt>
            </c:numLit>
          </c:val>
          <c:extLst>
            <c:ext xmlns:c16="http://schemas.microsoft.com/office/drawing/2014/chart" uri="{C3380CC4-5D6E-409C-BE32-E72D297353CC}">
              <c16:uniqueId val="{00000001-9CB9-4B1E-A7EF-D367DABFF8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0EA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88"/>
        </c:scaling>
        <c:delete val="0"/>
        <c:axPos val="l"/>
        <c:majorGridlines>
          <c:spPr>
            <a:ln w="9525">
              <a:solidFill>
                <a:srgbClr val="D7E0EA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24364B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315C04D-5F64-4FE7-974B-26ACBF96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571C1F1-D2CF-415F-BE86-D7B2C19CF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7BD6C33-F721-449E-BE5B-D3CBCB70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21EED2A-70BE-42FB-A0A6-C7E1A9DE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E6BD341-31A3-4DF1-9448-8653C9BCE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CE55171-4A13-49B5-AAD3-1562E450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148E0B-746F-406B-8EBF-153F62B07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622DC67-91E6-4997-A79C-07D69E46D6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02C5600-0151-4655-8F44-CA96953B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4896482-4B17-4098-8122-60DDBD7FE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hyperlink" Target="https://www.youtube.com/watch?v=mfrva-ueWm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74CF14-8639-48BC-80FF-AAC34C35A0BA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972777-C563-4356-B4FA-B23F8D9CE7B6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CB037-CE93-4B94-91F7-F271EB6A7C87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2B14DE-E1B3-41B4-B0AA-AEE731D25F5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9BB53F-6E39-48ED-BFFF-0D8CBF436772}"/>
              </a:ext>
            </a:extLst>
          </p:cNvPr>
          <p:cNvSpPr>
            <a:spLocks noGrp="1"/>
          </p:cNvSpPr>
          <p:nvPr/>
        </p:nvSpPr>
        <p:spPr>
          <a:xfrm>
            <a:off x="3333750" y="1600200"/>
            <a:ext cx="552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BÁO CÁO CUỐI KỲ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93BAA4-B4C5-42D4-A2F1-DD064B0C4D1E}"/>
              </a:ext>
            </a:extLst>
          </p:cNvPr>
          <p:cNvSpPr>
            <a:spLocks noGrp="1"/>
          </p:cNvSpPr>
          <p:nvPr/>
        </p:nvSpPr>
        <p:spPr>
          <a:xfrm>
            <a:off x="1619250" y="2114550"/>
            <a:ext cx="8953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</a:t>
            </a:r>
          </a:p>
          <a:p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QUẢN LÝ HỆ THỐNG</a:t>
            </a:r>
          </a:p>
          <a:p>
            <a:pPr algn="ctr">
              <a:lnSpc>
                <a:spcPct val="92000"/>
              </a:lnSpc>
              <a:buNone/>
              <a:defRPr sz="33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THÙNG RÁC THÔNG MINH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CB12C7-2404-46A9-A95C-8E0379CDACC9}"/>
              </a:ext>
            </a:extLst>
          </p:cNvPr>
          <p:cNvSpPr>
            <a:spLocks noGrp="1"/>
          </p:cNvSpPr>
          <p:nvPr/>
        </p:nvSpPr>
        <p:spPr>
          <a:xfrm>
            <a:off x="5381625" y="3857625"/>
            <a:ext cx="1428750" cy="4762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39168-E9BE-490B-A181-C1326C1919BD}"/>
              </a:ext>
            </a:extLst>
          </p:cNvPr>
          <p:cNvSpPr>
            <a:spLocks noGrp="1"/>
          </p:cNvSpPr>
          <p:nvPr/>
        </p:nvSpPr>
        <p:spPr>
          <a:xfrm>
            <a:off x="3524250" y="43338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Môn: Phát triển ứng dụng di động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96EE3-93DA-4A28-96CE-FA3C74C1A3EC}"/>
              </a:ext>
            </a:extLst>
          </p:cNvPr>
          <p:cNvSpPr>
            <a:spLocks noGrp="1"/>
          </p:cNvSpPr>
          <p:nvPr/>
        </p:nvSpPr>
        <p:spPr>
          <a:xfrm>
            <a:off x="2571750" y="4724400"/>
            <a:ext cx="704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Nhóm thực hiện: Võ Ngọc Mến, Đỗ Xuân Thanh, Lê Thành Nhân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3D9E89-F3AF-47C5-8599-B1401915BEC3}"/>
              </a:ext>
            </a:extLst>
          </p:cNvPr>
          <p:cNvSpPr>
            <a:spLocks noGrp="1"/>
          </p:cNvSpPr>
          <p:nvPr/>
        </p:nvSpPr>
        <p:spPr>
          <a:xfrm>
            <a:off x="3333750" y="51149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57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Giảng viên hướng dẫn: Huỳnh Hoàng Hà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4852AD-37F1-4F73-9BF5-CDB93EA96F21}"/>
              </a:ext>
            </a:extLst>
          </p:cNvPr>
          <p:cNvSpPr>
            <a:spLocks noGrp="1"/>
          </p:cNvSpPr>
          <p:nvPr/>
        </p:nvSpPr>
        <p:spPr>
          <a:xfrm>
            <a:off x="4095750" y="601980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TP. Hồ Chí Minh, 12/10/2026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8DEFE4-186D-AA4B-42BA-6DF02E769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90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48290-1385-4E2F-866D-149FC1A90C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E1435A-F3B1-496D-BD4A-6CD3A00D7C73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FA01C0-C11D-4EC2-9D2F-48192C2A9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F3D217-A5B9-41BF-86F8-5ABF5F14AFF1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ADF56F-8602-432F-9253-D52162181724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3D5867-3E4E-4EEA-B0C0-03CD08B9A26A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4237A-6965-4D89-A7C4-80F0B374BD3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000625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Phân loại tại nguồn: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người dùng dễ nhầm giữa hữu cơ, vô cơ và tái chế.</a:t>
            </a:r>
          </a:p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Thu gom cố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nhân viên có thể đến khi thùng chưa đầy hoặc bỏ sót thùng cần xử lý.</a:t>
            </a:r>
          </a:p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Kết nối không ổn định: </a:t>
            </a: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vẫn phải ghi nhận lượt bỏ rác khi mất mạng.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6E280-F996-456D-A14D-009AE8A0EA24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62681-5D64-496C-9C02-119F4C93D8B1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4953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8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Một ứng dụng Android kết nối người dân, nhân viên thu gom, quản lý và thùng rác ESP32 trên cùng dữ liệu thời gian thực.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F96146-D4E4-462A-BFDF-0F15EB0FF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70" r="9870"/>
          <a:stretch>
            <a:fillRect/>
          </a:stretch>
        </p:blipFill>
        <p:spPr>
          <a:xfrm>
            <a:off x="6019800" y="1619250"/>
            <a:ext cx="5572125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49BB4FC-15AA-440C-95BC-A32B50394529}"/>
              </a:ext>
            </a:extLst>
          </p:cNvPr>
          <p:cNvSpPr>
            <a:spLocks noGrp="1"/>
          </p:cNvSpPr>
          <p:nvPr/>
        </p:nvSpPr>
        <p:spPr>
          <a:xfrm>
            <a:off x="6324600" y="56673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Demo thật: ứng dụng nhận diện, kết nối BLE và điều khiển ba servo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52853A-C009-5251-4D35-78D693156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7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0A14189-D4DE-4BE2-B1E6-8B058E2CD3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9810EE-769E-4E3E-9B5B-F5433AC473F5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A990C-190D-41FC-8A80-EEE4C3C82B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CA33BB-6474-48D2-8250-4740CC8B72C9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BBEA5-615A-4B13-9F62-E69452DA7898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Kiến trúc tổng thể của SmartBin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1A80A-B88F-4C1F-9D1A-5ED418C7772F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2C4366-A485-4CF2-8D75-B4CE962A1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3750" y="1600200"/>
            <a:ext cx="7223125" cy="4333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EA3259-679F-4954-9883-F9BB23CD917F}"/>
              </a:ext>
            </a:extLst>
          </p:cNvPr>
          <p:cNvSpPr>
            <a:spLocks noGrp="1"/>
          </p:cNvSpPr>
          <p:nvPr/>
        </p:nvSpPr>
        <p:spPr>
          <a:xfrm>
            <a:off x="8572500" y="1695450"/>
            <a:ext cx="38100" cy="4000500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89C5C-1357-4157-8CBE-296A066C0671}"/>
              </a:ext>
            </a:extLst>
          </p:cNvPr>
          <p:cNvSpPr>
            <a:spLocks noGrp="1"/>
          </p:cNvSpPr>
          <p:nvPr/>
        </p:nvSpPr>
        <p:spPr>
          <a:xfrm>
            <a:off x="8905875" y="17621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Ứng dụng di động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5D4C40-A104-424A-9B26-FFBA8B80D1E3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React Native và Expo</a:t>
            </a:r>
          </a:p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SQLite, BLE, camera, TFLite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02DE6-FF2F-4896-8063-6F82785CB860}"/>
              </a:ext>
            </a:extLst>
          </p:cNvPr>
          <p:cNvSpPr>
            <a:spLocks noGrp="1"/>
          </p:cNvSpPr>
          <p:nvPr/>
        </p:nvSpPr>
        <p:spPr>
          <a:xfrm>
            <a:off x="8905875" y="3143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Máy chủ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DEAE9-92C4-4C65-9024-ACD618B737B0}"/>
              </a:ext>
            </a:extLst>
          </p:cNvPr>
          <p:cNvSpPr>
            <a:spLocks noGrp="1"/>
          </p:cNvSpPr>
          <p:nvPr/>
        </p:nvSpPr>
        <p:spPr>
          <a:xfrm>
            <a:off x="8905875" y="3495675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24"/>
          </a:bodyPr>
          <a:lstStyle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Supabase PostgreSQL</a:t>
            </a:r>
          </a:p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Auth, Realtime, Storage, pg_cron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7777E-0832-40C4-AC4D-45D21F649F14}"/>
              </a:ext>
            </a:extLst>
          </p:cNvPr>
          <p:cNvSpPr>
            <a:spLocks noGrp="1"/>
          </p:cNvSpPr>
          <p:nvPr/>
        </p:nvSpPr>
        <p:spPr>
          <a:xfrm>
            <a:off x="8905875" y="45720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7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Thiết bị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051D71-6A29-48BC-AC34-A9697780DB85}"/>
              </a:ext>
            </a:extLst>
          </p:cNvPr>
          <p:cNvSpPr>
            <a:spLocks noGrp="1"/>
          </p:cNvSpPr>
          <p:nvPr/>
        </p:nvSpPr>
        <p:spPr>
          <a:xfrm>
            <a:off x="8905875" y="4924425"/>
            <a:ext cx="266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08"/>
          </a:bodyPr>
          <a:lstStyle>
            <a:defPPr algn="l"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và ba servo</a:t>
            </a:r>
          </a:p>
          <a:p>
            <a:pPr algn="l">
              <a:lnSpc>
                <a:spcPct val="115000"/>
              </a:lnSpc>
              <a:buNone/>
              <a:defRPr sz="142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chạy trên điện thoại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2A6D5D-1C97-4633-2923-15D3A1062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7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EBB349-2AC0-420B-AF72-10C3365225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D4B6D1-F857-456D-B337-1854BAEEEF75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25CB4E-BBC0-439C-B2F3-F162D5888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5A6670-CE07-4D7D-83A1-33163C9F08DF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C50D3-D10B-4844-AA0D-6550DD866380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Bốn vai trò sử dụng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5D19F-BE00-4B97-BA80-A05440E49C4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57EBE9-CD71-4E10-9E68-2645AEBC7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2359" y="1600200"/>
            <a:ext cx="2013807" cy="4048125"/>
          </a:xfrm>
          <a:prstGeom prst="roundRect">
            <a:avLst>
              <a:gd name="adj" fmla="val 4898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06AD6EA-4973-4812-B4AD-6E319C49515C}"/>
              </a:ext>
            </a:extLst>
          </p:cNvPr>
          <p:cNvSpPr>
            <a:spLocks noGrp="1"/>
          </p:cNvSpPr>
          <p:nvPr/>
        </p:nvSpPr>
        <p:spPr>
          <a:xfrm>
            <a:off x="514350" y="5695950"/>
            <a:ext cx="2409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Hộ gia đình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3AD8A-DECE-4292-9670-3A7E380FB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36534" y="1600200"/>
            <a:ext cx="2013807" cy="4048125"/>
          </a:xfrm>
          <a:prstGeom prst="roundRect">
            <a:avLst>
              <a:gd name="adj" fmla="val 4898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079256-FD52-4F10-BE61-37EA577F0F10}"/>
              </a:ext>
            </a:extLst>
          </p:cNvPr>
          <p:cNvSpPr>
            <a:spLocks noGrp="1"/>
          </p:cNvSpPr>
          <p:nvPr/>
        </p:nvSpPr>
        <p:spPr>
          <a:xfrm>
            <a:off x="3438525" y="5695950"/>
            <a:ext cx="2409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Kiosk cộng đồng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FD72F5-33EA-4950-AA0E-F4DC409D2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60709" y="1600200"/>
            <a:ext cx="2013807" cy="4048125"/>
          </a:xfrm>
          <a:prstGeom prst="roundRect">
            <a:avLst>
              <a:gd name="adj" fmla="val 4898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31C136-8662-4718-845A-7B2F354D371F}"/>
              </a:ext>
            </a:extLst>
          </p:cNvPr>
          <p:cNvSpPr>
            <a:spLocks noGrp="1"/>
          </p:cNvSpPr>
          <p:nvPr/>
        </p:nvSpPr>
        <p:spPr>
          <a:xfrm>
            <a:off x="6362700" y="5695950"/>
            <a:ext cx="2409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Nhân viên thu gom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A9B37A-1F91-456C-9E36-DF8B50F3C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484884" y="1600200"/>
            <a:ext cx="2013807" cy="4048125"/>
          </a:xfrm>
          <a:prstGeom prst="roundRect">
            <a:avLst>
              <a:gd name="adj" fmla="val 4898"/>
            </a:avLst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E8F9AC-83F4-4499-BF7D-777B6EF8BF2D}"/>
              </a:ext>
            </a:extLst>
          </p:cNvPr>
          <p:cNvSpPr>
            <a:spLocks noGrp="1"/>
          </p:cNvSpPr>
          <p:nvPr/>
        </p:nvSpPr>
        <p:spPr>
          <a:xfrm>
            <a:off x="9286875" y="5695950"/>
            <a:ext cx="2409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quản lý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5A4D09-BA23-47D7-80F2-EB1BDA9551D0}"/>
              </a:ext>
            </a:extLst>
          </p:cNvPr>
          <p:cNvSpPr>
            <a:spLocks noGrp="1"/>
          </p:cNvSpPr>
          <p:nvPr/>
        </p:nvSpPr>
        <p:spPr>
          <a:xfrm>
            <a:off x="552450" y="60198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Tích điểm, lịch sử và thống kê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264B77-32E7-4EA1-81EA-1BF96A281C73}"/>
              </a:ext>
            </a:extLst>
          </p:cNvPr>
          <p:cNvSpPr>
            <a:spLocks noGrp="1"/>
          </p:cNvSpPr>
          <p:nvPr/>
        </p:nvSpPr>
        <p:spPr>
          <a:xfrm>
            <a:off x="3476625" y="60198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Bỏ rác không cần tài khoản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7AE2A4-8A68-4B09-BBDE-FF275D69A43C}"/>
              </a:ext>
            </a:extLst>
          </p:cNvPr>
          <p:cNvSpPr>
            <a:spLocks noGrp="1"/>
          </p:cNvSpPr>
          <p:nvPr/>
        </p:nvSpPr>
        <p:spPr>
          <a:xfrm>
            <a:off x="6400800" y="60198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Nhận việc, lộ trình, nghiệm thu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00CEF2-479F-42B2-8B65-CF1D063A7510}"/>
              </a:ext>
            </a:extLst>
          </p:cNvPr>
          <p:cNvSpPr>
            <a:spLocks noGrp="1"/>
          </p:cNvSpPr>
          <p:nvPr/>
        </p:nvSpPr>
        <p:spPr>
          <a:xfrm>
            <a:off x="9324975" y="60198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Bản đồ, điều phối, tự động hóa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90F819-3149-7CFE-DB37-F01116A4D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80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FCBA023-0E0C-459E-A64F-A4A13EC744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555757-FFFE-4DD0-AF21-1345FB3FBEC5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7D8C4-B90A-4493-9727-41D273D0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20A2A6-FF0A-4C1F-A3D8-61901539E0A5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93F44-FBF3-46C6-9054-84B54BDA1CD7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Phân loại rác và điều khiển thùng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F9DC08-93B6-4003-A68C-285DDE3BD5FC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1E52C-19FB-4A38-B80B-B023FDA49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983" y="1571625"/>
            <a:ext cx="2227034" cy="4476750"/>
          </a:xfrm>
          <a:prstGeom prst="roundRect">
            <a:avLst>
              <a:gd name="adj" fmla="val 4000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ADE081-A7F6-476D-9D18-36B9F522D470}"/>
              </a:ext>
            </a:extLst>
          </p:cNvPr>
          <p:cNvSpPr>
            <a:spLocks noGrp="1"/>
          </p:cNvSpPr>
          <p:nvPr/>
        </p:nvSpPr>
        <p:spPr>
          <a:xfrm>
            <a:off x="628650" y="6096000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Camera AI trên trang chủ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5AF2B0-95E3-4578-9695-578FF8F35DDE}"/>
              </a:ext>
            </a:extLst>
          </p:cNvPr>
          <p:cNvSpPr>
            <a:spLocks noGrp="1"/>
          </p:cNvSpPr>
          <p:nvPr/>
        </p:nvSpPr>
        <p:spPr>
          <a:xfrm>
            <a:off x="3905250" y="1638300"/>
            <a:ext cx="38100" cy="423862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428B7-5879-4285-A395-3D1824D1BE20}"/>
              </a:ext>
            </a:extLst>
          </p:cNvPr>
          <p:cNvSpPr>
            <a:spLocks noGrp="1"/>
          </p:cNvSpPr>
          <p:nvPr/>
        </p:nvSpPr>
        <p:spPr>
          <a:xfrm>
            <a:off x="4191000" y="16002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E4638-BE88-43AA-A6BB-6209787E06F7}"/>
              </a:ext>
            </a:extLst>
          </p:cNvPr>
          <p:cNvSpPr>
            <a:spLocks noGrp="1"/>
          </p:cNvSpPr>
          <p:nvPr/>
        </p:nvSpPr>
        <p:spPr>
          <a:xfrm>
            <a:off x="4857750" y="2076450"/>
            <a:ext cx="6572250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68FE3-A40A-4A93-9A0F-0723B7EF1FCB}"/>
              </a:ext>
            </a:extLst>
          </p:cNvPr>
          <p:cNvSpPr>
            <a:spLocks noGrp="1"/>
          </p:cNvSpPr>
          <p:nvPr/>
        </p:nvSpPr>
        <p:spPr>
          <a:xfrm>
            <a:off x="4914900" y="1600200"/>
            <a:ext cx="651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Chọn cách phân loại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025E2D-6076-41EB-A2AA-7E401A364139}"/>
              </a:ext>
            </a:extLst>
          </p:cNvPr>
          <p:cNvSpPr>
            <a:spLocks noGrp="1"/>
          </p:cNvSpPr>
          <p:nvPr/>
        </p:nvSpPr>
        <p:spPr>
          <a:xfrm>
            <a:off x="4914900" y="1876425"/>
            <a:ext cx="651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Người dùng chọn tay, tra cứu ảnh hoặc bật camera nhận diện trực tiếp.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3E6B37-1961-4D35-B407-23804E13965E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80AD5-F2EB-45A3-87D5-2042CD3C25D7}"/>
              </a:ext>
            </a:extLst>
          </p:cNvPr>
          <p:cNvSpPr>
            <a:spLocks noGrp="1"/>
          </p:cNvSpPr>
          <p:nvPr/>
        </p:nvSpPr>
        <p:spPr>
          <a:xfrm>
            <a:off x="4857750" y="2933700"/>
            <a:ext cx="6572250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0662D1-48EA-4AAE-9BF2-D3374D3034E4}"/>
              </a:ext>
            </a:extLst>
          </p:cNvPr>
          <p:cNvSpPr>
            <a:spLocks noGrp="1"/>
          </p:cNvSpPr>
          <p:nvPr/>
        </p:nvSpPr>
        <p:spPr>
          <a:xfrm>
            <a:off x="4914900" y="2457450"/>
            <a:ext cx="651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Nhận diện trên thiết bị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3681A-37E9-49EB-9829-7B816B4AB784}"/>
              </a:ext>
            </a:extLst>
          </p:cNvPr>
          <p:cNvSpPr>
            <a:spLocks noGrp="1"/>
          </p:cNvSpPr>
          <p:nvPr/>
        </p:nvSpPr>
        <p:spPr>
          <a:xfrm>
            <a:off x="4914900" y="2733675"/>
            <a:ext cx="651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MobileCLIP-S0 trả về loại rác và độ tin cậy, không gửi ảnh lên máy chủ.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E1F363-75C4-4050-9E49-FB5B09F2E77F}"/>
              </a:ext>
            </a:extLst>
          </p:cNvPr>
          <p:cNvSpPr>
            <a:spLocks noGrp="1"/>
          </p:cNvSpPr>
          <p:nvPr/>
        </p:nvSpPr>
        <p:spPr>
          <a:xfrm>
            <a:off x="4191000" y="33147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909D2-4A58-47DE-B549-E06D0F38AD4B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6572250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D5E4F8-2390-4FBB-95E9-345BCFCC35BE}"/>
              </a:ext>
            </a:extLst>
          </p:cNvPr>
          <p:cNvSpPr>
            <a:spLocks noGrp="1"/>
          </p:cNvSpPr>
          <p:nvPr/>
        </p:nvSpPr>
        <p:spPr>
          <a:xfrm>
            <a:off x="4914900" y="3314700"/>
            <a:ext cx="651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Gửi lệnh qua Bluetooth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BEC987-5239-48B8-8584-27D07DE3BE97}"/>
              </a:ext>
            </a:extLst>
          </p:cNvPr>
          <p:cNvSpPr>
            <a:spLocks noGrp="1"/>
          </p:cNvSpPr>
          <p:nvPr/>
        </p:nvSpPr>
        <p:spPr>
          <a:xfrm>
            <a:off x="4914900" y="3590925"/>
            <a:ext cx="651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Ứng dụng dùng BinController gửi lệnh mở ngăn tương ứng tới ESP32.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07CA52-461F-4BD5-9D65-F658E402B03D}"/>
              </a:ext>
            </a:extLst>
          </p:cNvPr>
          <p:cNvSpPr>
            <a:spLocks noGrp="1"/>
          </p:cNvSpPr>
          <p:nvPr/>
        </p:nvSpPr>
        <p:spPr>
          <a:xfrm>
            <a:off x="4191000" y="417195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F5D9BF-F08A-4B21-B77A-29F6FA2CC044}"/>
              </a:ext>
            </a:extLst>
          </p:cNvPr>
          <p:cNvSpPr>
            <a:spLocks noGrp="1"/>
          </p:cNvSpPr>
          <p:nvPr/>
        </p:nvSpPr>
        <p:spPr>
          <a:xfrm>
            <a:off x="4857750" y="4648200"/>
            <a:ext cx="6572250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41D90E-A31C-4A85-84B3-AC91B2841512}"/>
              </a:ext>
            </a:extLst>
          </p:cNvPr>
          <p:cNvSpPr>
            <a:spLocks noGrp="1"/>
          </p:cNvSpPr>
          <p:nvPr/>
        </p:nvSpPr>
        <p:spPr>
          <a:xfrm>
            <a:off x="4914900" y="4171950"/>
            <a:ext cx="651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Điều khiển cơ cấu chấp hành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15B2B7-D322-4C62-83A6-30542D4FA3C7}"/>
              </a:ext>
            </a:extLst>
          </p:cNvPr>
          <p:cNvSpPr>
            <a:spLocks noGrp="1"/>
          </p:cNvSpPr>
          <p:nvPr/>
        </p:nvSpPr>
        <p:spPr>
          <a:xfrm>
            <a:off x="4914900" y="4448175"/>
            <a:ext cx="651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ESP32 mở đúng servo, giữ 2 giây rồi đóng nắp và trả trạng thái.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E69F5C-E678-49FC-B897-D314E0F899EE}"/>
              </a:ext>
            </a:extLst>
          </p:cNvPr>
          <p:cNvSpPr>
            <a:spLocks noGrp="1"/>
          </p:cNvSpPr>
          <p:nvPr/>
        </p:nvSpPr>
        <p:spPr>
          <a:xfrm>
            <a:off x="4191000" y="50292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2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B09089-1AA9-4F9A-BA94-846F193F54F3}"/>
              </a:ext>
            </a:extLst>
          </p:cNvPr>
          <p:cNvSpPr>
            <a:spLocks noGrp="1"/>
          </p:cNvSpPr>
          <p:nvPr/>
        </p:nvSpPr>
        <p:spPr>
          <a:xfrm>
            <a:off x="4857750" y="5505450"/>
            <a:ext cx="6572250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69CC3D-AA27-4BDB-90EF-25E8472ACAF9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651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nhận và đồng bộ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AE2E6D-2857-4883-B9FE-0E0CDEB6F396}"/>
              </a:ext>
            </a:extLst>
          </p:cNvPr>
          <p:cNvSpPr>
            <a:spLocks noGrp="1"/>
          </p:cNvSpPr>
          <p:nvPr/>
        </p:nvSpPr>
        <p:spPr>
          <a:xfrm>
            <a:off x="4914900" y="5305425"/>
            <a:ext cx="6515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SQLite lưu local_id, sau đó hàng đợi gửi sự kiện lên Supabase.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AD8478-4A05-4134-7382-2E0C868A7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9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1E77E1-D364-476A-BB3F-DC3618EFB8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17468-D289-4CC7-96B9-0DB99E768E03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7FAFC-AA79-45A6-A8E0-2714BC4D7C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BAB067-92B0-4FD1-8761-19F0F5BE27F9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E724F-FDEB-4D06-BDED-466CA9B28EBB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MobileCLIP-S0 trong ứng dụng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06112-CBE4-4138-884E-FAF3C1BDF5F8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B2761B-3392-45AA-9B59-AD73761469FD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93,16%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3EDD68-5542-4ECA-91A8-7D9C1B730AC7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chính xác trên 2.749 ảnh thử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D1AB9-42A8-438E-B949-92216066AF9C}"/>
              </a:ext>
            </a:extLst>
          </p:cNvPr>
          <p:cNvSpPr>
            <a:spLocks noGrp="1"/>
          </p:cNvSpPr>
          <p:nvPr/>
        </p:nvSpPr>
        <p:spPr>
          <a:xfrm>
            <a:off x="3810000" y="1543050"/>
            <a:ext cx="19050" cy="83820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7D88C-8CBA-4F51-8202-65D8E67CEC3E}"/>
              </a:ext>
            </a:extLst>
          </p:cNvPr>
          <p:cNvSpPr>
            <a:spLocks noGrp="1"/>
          </p:cNvSpPr>
          <p:nvPr/>
        </p:nvSpPr>
        <p:spPr>
          <a:xfrm>
            <a:off x="4095750" y="1504950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94,63%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9E9E19-1E29-46B4-8600-A0BA435B3782}"/>
              </a:ext>
            </a:extLst>
          </p:cNvPr>
          <p:cNvSpPr>
            <a:spLocks noGrp="1"/>
          </p:cNvSpPr>
          <p:nvPr/>
        </p:nvSpPr>
        <p:spPr>
          <a:xfrm>
            <a:off x="4095750" y="202882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Balanced accuracy của TFLite FP32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69EF8D-32FA-44D2-B8E6-D88D74909216}"/>
              </a:ext>
            </a:extLst>
          </p:cNvPr>
          <p:cNvSpPr>
            <a:spLocks noGrp="1"/>
          </p:cNvSpPr>
          <p:nvPr/>
        </p:nvSpPr>
        <p:spPr>
          <a:xfrm>
            <a:off x="7239000" y="1543050"/>
            <a:ext cx="19050" cy="83820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11CF2-3C14-44F7-95EF-F20815A6D032}"/>
              </a:ext>
            </a:extLst>
          </p:cNvPr>
          <p:cNvSpPr>
            <a:spLocks noGrp="1"/>
          </p:cNvSpPr>
          <p:nvPr/>
        </p:nvSpPr>
        <p:spPr>
          <a:xfrm>
            <a:off x="7524750" y="1504950"/>
            <a:ext cx="371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~490 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999634-1719-4DD4-803B-8C106A387F74}"/>
              </a:ext>
            </a:extLst>
          </p:cNvPr>
          <p:cNvSpPr>
            <a:spLocks noGrp="1"/>
          </p:cNvSpPr>
          <p:nvPr/>
        </p:nvSpPr>
        <p:spPr>
          <a:xfrm>
            <a:off x="7524750" y="2028825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Độ trễ GPU trên điện thoại TECNO CM6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0C89D235-A72C-4B98-8447-86A0BFABBE92}"/>
              </a:ext>
            </a:extLst>
          </p:cNvPr>
          <p:cNvGraphicFramePr/>
          <p:nvPr/>
        </p:nvGraphicFramePr>
        <p:xfrm>
          <a:off x="619125" y="2781300"/>
          <a:ext cx="7239000" cy="319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EEA1CEF-0E21-4E96-B992-2AC051D4D693}"/>
              </a:ext>
            </a:extLst>
          </p:cNvPr>
          <p:cNvSpPr>
            <a:spLocks noGrp="1"/>
          </p:cNvSpPr>
          <p:nvPr/>
        </p:nvSpPr>
        <p:spPr>
          <a:xfrm>
            <a:off x="8334375" y="2952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Cách hoạt động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1B0D31-43F0-4AE9-AD02-AF6667B2A7F3}"/>
              </a:ext>
            </a:extLst>
          </p:cNvPr>
          <p:cNvSpPr>
            <a:spLocks noGrp="1"/>
          </p:cNvSpPr>
          <p:nvPr/>
        </p:nvSpPr>
        <p:spPr>
          <a:xfrm>
            <a:off x="8334375" y="3429000"/>
            <a:ext cx="31432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mã hóa ảnh MobileCLIP-S0 tạo vector 512 chiều.</a:t>
            </a:r>
          </a:p>
          <a:p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so khớp với 180 câu mô tả đã mã hóa trước.</a:t>
            </a:r>
          </a:p>
          <a:p>
            <a:pPr marL="20" indent="-10" algn="l">
              <a:lnSpc>
                <a:spcPct val="113000"/>
              </a:lnSpc>
              <a:spcAft>
                <a:spcPts val="12"/>
              </a:spcAft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Bốn nhóm: hữu cơ, vô cơ, tái chế và không có rác.</a:t>
            </a:r>
          </a:p>
          <a:p>
            <a:pPr marL="20" indent="-10" algn="l">
              <a:lnSpc>
                <a:spcPct val="113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4364B"/>
                </a:solidFill>
                <a:latin typeface="Arial"/>
                <a:ea typeface="Arial"/>
                <a:cs typeface="Arial"/>
              </a:rPr>
              <a:t>Cần hai khung liên tiếp đạt ngưỡng 0,8 trước khi mở nắp.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B996C4-94EF-2446-4185-76B9E0615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9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53EA969-FBC2-4E25-AC5D-B2488063FD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27324A-FA3F-405D-BF67-900FC0D8BD61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1DFE3-0CF4-43FA-B61E-20D70DEC6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AE87A0-DA8A-4E81-9A33-0E9BDB1FC908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A206B-715A-4952-96FE-4422D749DA46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 trước và đồng bộ sau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02A01-A5B6-4067-872A-FC25D9F55855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0E625A-0F1B-4016-8396-BD99E8443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7905" y="1619250"/>
            <a:ext cx="2122789" cy="4267200"/>
          </a:xfrm>
          <a:prstGeom prst="roundRect">
            <a:avLst>
              <a:gd name="adj" fmla="val 4286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788C1C-8E21-4886-846F-73E91E8851A7}"/>
              </a:ext>
            </a:extLst>
          </p:cNvPr>
          <p:cNvSpPr>
            <a:spLocks noGrp="1"/>
          </p:cNvSpPr>
          <p:nvPr/>
        </p:nvSpPr>
        <p:spPr>
          <a:xfrm>
            <a:off x="647700" y="5934075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Thống kê cập nhật sau đồng bộ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928908-3970-4702-8E8B-07DFF0CD584B}"/>
              </a:ext>
            </a:extLst>
          </p:cNvPr>
          <p:cNvSpPr>
            <a:spLocks noGrp="1"/>
          </p:cNvSpPr>
          <p:nvPr/>
        </p:nvSpPr>
        <p:spPr>
          <a:xfrm>
            <a:off x="3810000" y="1666875"/>
            <a:ext cx="38100" cy="4095750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7275E6-9A86-403C-89A2-F29DA1376B29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655DCB-D295-4F13-AD9A-D1FD61994C1C}"/>
              </a:ext>
            </a:extLst>
          </p:cNvPr>
          <p:cNvSpPr>
            <a:spLocks noGrp="1"/>
          </p:cNvSpPr>
          <p:nvPr/>
        </p:nvSpPr>
        <p:spPr>
          <a:xfrm>
            <a:off x="5095875" y="183832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Ghi cục bộ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BB3141-CDAE-4F76-BABB-74A2D411175D}"/>
              </a:ext>
            </a:extLst>
          </p:cNvPr>
          <p:cNvSpPr>
            <a:spLocks noGrp="1"/>
          </p:cNvSpPr>
          <p:nvPr/>
        </p:nvSpPr>
        <p:spPr>
          <a:xfrm>
            <a:off x="5095875" y="2266950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SQLite lưu sự kiện với local_id duy nhất và trạng thái synced = 0. Người dùng vẫn bỏ rác khi mất mạng.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5F4B3B-F318-438F-B6B9-2EB55B626D81}"/>
              </a:ext>
            </a:extLst>
          </p:cNvPr>
          <p:cNvSpPr>
            <a:spLocks noGrp="1"/>
          </p:cNvSpPr>
          <p:nvPr/>
        </p:nvSpPr>
        <p:spPr>
          <a:xfrm>
            <a:off x="4267200" y="3143250"/>
            <a:ext cx="6715125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B90E92-D317-4742-BA6D-675B66906E31}"/>
              </a:ext>
            </a:extLst>
          </p:cNvPr>
          <p:cNvSpPr>
            <a:spLocks noGrp="1"/>
          </p:cNvSpPr>
          <p:nvPr/>
        </p:nvSpPr>
        <p:spPr>
          <a:xfrm>
            <a:off x="4267200" y="3381375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9EF70-8F2F-4186-B788-7A8851838C74}"/>
              </a:ext>
            </a:extLst>
          </p:cNvPr>
          <p:cNvSpPr>
            <a:spLocks noGrp="1"/>
          </p:cNvSpPr>
          <p:nvPr/>
        </p:nvSpPr>
        <p:spPr>
          <a:xfrm>
            <a:off x="5095875" y="34099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Xếp hàng và thử lại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DE4254-856E-4F3F-AB1E-CC51C437EB18}"/>
              </a:ext>
            </a:extLst>
          </p:cNvPr>
          <p:cNvSpPr>
            <a:spLocks noGrp="1"/>
          </p:cNvSpPr>
          <p:nvPr/>
        </p:nvSpPr>
        <p:spPr>
          <a:xfrm>
            <a:off x="5095875" y="3838575"/>
            <a:ext cx="590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Bộ máy đồng bộ lấy tối đa 50 tác vụ mỗi lượt. Lỗi mạng giữ nguyên hàng đợi, lỗi máy chủ tăng số lần thử.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2C4A4-8138-4385-8768-9BC5A753D7F2}"/>
              </a:ext>
            </a:extLst>
          </p:cNvPr>
          <p:cNvSpPr>
            <a:spLocks noGrp="1"/>
          </p:cNvSpPr>
          <p:nvPr/>
        </p:nvSpPr>
        <p:spPr>
          <a:xfrm>
            <a:off x="4267200" y="4714875"/>
            <a:ext cx="6715125" cy="19050"/>
          </a:xfrm>
          <a:prstGeom prst="rect">
            <a:avLst/>
          </a:prstGeom>
          <a:solidFill>
            <a:srgbClr val="D7E0E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BD2A51-3C0D-408F-9FA0-526F418BC728}"/>
              </a:ext>
            </a:extLst>
          </p:cNvPr>
          <p:cNvSpPr>
            <a:spLocks noGrp="1"/>
          </p:cNvSpPr>
          <p:nvPr/>
        </p:nvSpPr>
        <p:spPr>
          <a:xfrm>
            <a:off x="4267200" y="4953000"/>
            <a:ext cx="666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361264-9DC1-435D-B219-C0122CC8F550}"/>
              </a:ext>
            </a:extLst>
          </p:cNvPr>
          <p:cNvSpPr>
            <a:spLocks noGrp="1"/>
          </p:cNvSpPr>
          <p:nvPr/>
        </p:nvSpPr>
        <p:spPr>
          <a:xfrm>
            <a:off x="5095875" y="4981575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7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Xác nhận trên máy chủ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5F9AC4-BA05-4936-875D-8AA82A386DD9}"/>
              </a:ext>
            </a:extLst>
          </p:cNvPr>
          <p:cNvSpPr>
            <a:spLocks noGrp="1"/>
          </p:cNvSpPr>
          <p:nvPr/>
        </p:nvSpPr>
        <p:spPr>
          <a:xfrm>
            <a:off x="5095875" y="541020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64B"/>
                </a:solidFill>
                <a:latin typeface="Arial"/>
                <a:ea typeface="Arial"/>
                <a:cs typeface="Arial"/>
              </a:rPr>
              <a:t>Supabase nhận sự kiện, cộng điểm, cập nhật mức đầy và phát thông báo Realtime.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99369E-26CA-FF6A-B7CB-E033A2088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E47D8F8-AB2E-4555-8003-7AB5ACEDA5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D0630-4D57-4989-9301-16D03AB59B16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74E1E-AC94-44EB-A02D-1985D5D7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85B3558-E61F-44A0-8D59-0B68E0EF0FF1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9ED12-E43E-4503-B022-E9E80F92DC6E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Thu gom, điều phối và tự động hóa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BF864-2F3C-4144-81EA-BD823ECC9EC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10742-2A56-40D3-B396-2246FE72D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6751" y="1600200"/>
            <a:ext cx="2037499" cy="4095750"/>
          </a:xfrm>
          <a:prstGeom prst="roundRect">
            <a:avLst>
              <a:gd name="adj" fmla="val 4000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8625ED-2BEA-4B3D-9B4D-0C3176522BF7}"/>
              </a:ext>
            </a:extLst>
          </p:cNvPr>
          <p:cNvSpPr>
            <a:spLocks noGrp="1"/>
          </p:cNvSpPr>
          <p:nvPr/>
        </p:nvSpPr>
        <p:spPr>
          <a:xfrm>
            <a:off x="628650" y="57435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Điều phối nhân viên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2CD0E-53A4-4CAD-8AA3-E57043924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077251" y="1600200"/>
            <a:ext cx="2037499" cy="409575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70EC208-BF2C-41F7-9D3E-A3E80C03BB52}"/>
              </a:ext>
            </a:extLst>
          </p:cNvPr>
          <p:cNvSpPr>
            <a:spLocks noGrp="1"/>
          </p:cNvSpPr>
          <p:nvPr/>
        </p:nvSpPr>
        <p:spPr>
          <a:xfrm>
            <a:off x="4629150" y="57435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Quy tắc tự động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432DD2-A6C6-4579-8A7A-307F5A941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077751" y="1600200"/>
            <a:ext cx="2037499" cy="4095750"/>
          </a:xfrm>
          <a:prstGeom prst="roundRect">
            <a:avLst>
              <a:gd name="adj" fmla="val 4000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DAD92A-03BD-4862-87F1-D6EEC55DF690}"/>
              </a:ext>
            </a:extLst>
          </p:cNvPr>
          <p:cNvSpPr>
            <a:spLocks noGrp="1"/>
          </p:cNvSpPr>
          <p:nvPr/>
        </p:nvSpPr>
        <p:spPr>
          <a:xfrm>
            <a:off x="8629650" y="5743575"/>
            <a:ext cx="293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Lộ trình thu gom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D3BDA3-4BE7-4E28-9C1C-A8E539F41179}"/>
              </a:ext>
            </a:extLst>
          </p:cNvPr>
          <p:cNvSpPr>
            <a:spLocks noGrp="1"/>
          </p:cNvSpPr>
          <p:nvPr/>
        </p:nvSpPr>
        <p:spPr>
          <a:xfrm>
            <a:off x="619125" y="59721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Giao việc theo ca trực và tải công việc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C8249-EE31-4E86-B975-896B33256C5C}"/>
              </a:ext>
            </a:extLst>
          </p:cNvPr>
          <p:cNvSpPr>
            <a:spLocks noGrp="1"/>
          </p:cNvSpPr>
          <p:nvPr/>
        </p:nvSpPr>
        <p:spPr>
          <a:xfrm>
            <a:off x="4619625" y="59721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Tự tạo việc ở 60%, nâng khẩn ở 80%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CDBE42-E9C9-473E-9D39-6C9585208F29}"/>
              </a:ext>
            </a:extLst>
          </p:cNvPr>
          <p:cNvSpPr>
            <a:spLocks noGrp="1"/>
          </p:cNvSpPr>
          <p:nvPr/>
        </p:nvSpPr>
        <p:spPr>
          <a:xfrm>
            <a:off x="8620125" y="59721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238"/>
          </a:bodyPr>
          <a:lstStyle>
            <a:defPPr algn="ctr"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Tối ưu điểm ghé, mở Google Maps chỉ đường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11BE41-2E0F-EB6A-EB02-BEE830E80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4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F1160F4-9CDF-4EDD-9E59-6F22416B1D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E4B30B-A48C-439C-8267-FF8DABD0B0B0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469D2-6BD2-46DE-8ECC-52E633C06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57E119-09B0-4209-A654-3D997D542390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81A63-6FD6-42E2-A01E-48BA8BD33F72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quả kiểm thử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3AC71-2ACA-4302-9F3C-43D77968B993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27080-9D7D-422E-B661-114F824DE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642" y="1619250"/>
            <a:ext cx="1990115" cy="4000500"/>
          </a:xfrm>
          <a:prstGeom prst="roundRect">
            <a:avLst>
              <a:gd name="adj" fmla="val 4615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F260A8-3025-4BF4-9A3A-84286E2ED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91192" y="1619250"/>
            <a:ext cx="1990115" cy="4000500"/>
          </a:xfrm>
          <a:prstGeom prst="roundRect">
            <a:avLst>
              <a:gd name="adj" fmla="val 4615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0B2530-1DC3-46A5-BF1C-FB24BFE07D05}"/>
              </a:ext>
            </a:extLst>
          </p:cNvPr>
          <p:cNvSpPr>
            <a:spLocks noGrp="1"/>
          </p:cNvSpPr>
          <p:nvPr/>
        </p:nvSpPr>
        <p:spPr>
          <a:xfrm>
            <a:off x="5905500" y="1666875"/>
            <a:ext cx="38100" cy="4000500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4E91B1-071D-4D5A-827B-E7397568E949}"/>
              </a:ext>
            </a:extLst>
          </p:cNvPr>
          <p:cNvSpPr>
            <a:spLocks noGrp="1"/>
          </p:cNvSpPr>
          <p:nvPr/>
        </p:nvSpPr>
        <p:spPr>
          <a:xfrm>
            <a:off x="6286500" y="16668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2352A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352A0"/>
                </a:solidFill>
                <a:latin typeface="Arial"/>
                <a:ea typeface="Arial"/>
                <a:cs typeface="Arial"/>
              </a:rPr>
              <a:t>44/44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D5B6DC-2F87-42D5-9196-E511A60DC4C3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máy chủ đạt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702FDB-FB94-4270-A934-3BB585F60B97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0BAA6E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BAA6E"/>
                </a:solidFill>
                <a:latin typeface="Arial"/>
                <a:ea typeface="Arial"/>
                <a:cs typeface="Arial"/>
              </a:rPr>
              <a:t>25/25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D6D0E-8F1B-4C3A-A43A-B45EF6334063}"/>
              </a:ext>
            </a:extLst>
          </p:cNvPr>
          <p:cNvSpPr>
            <a:spLocks noGrp="1"/>
          </p:cNvSpPr>
          <p:nvPr/>
        </p:nvSpPr>
        <p:spPr>
          <a:xfrm>
            <a:off x="8858250" y="219075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Phép kiểm tra logic ứng dụng đạt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2577A-83E4-44A0-BDC8-1EB8272131FA}"/>
              </a:ext>
            </a:extLst>
          </p:cNvPr>
          <p:cNvSpPr>
            <a:spLocks noGrp="1"/>
          </p:cNvSpPr>
          <p:nvPr/>
        </p:nvSpPr>
        <p:spPr>
          <a:xfrm>
            <a:off x="6286500" y="309562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0AAC96-1FB6-4DF0-B1B0-96F0EAA8785B}"/>
              </a:ext>
            </a:extLst>
          </p:cNvPr>
          <p:cNvSpPr>
            <a:spLocks noGrp="1"/>
          </p:cNvSpPr>
          <p:nvPr/>
        </p:nvSpPr>
        <p:spPr>
          <a:xfrm>
            <a:off x="6286500" y="361950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Vai trò đã kiểm thử trên bản cài thật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C306D-0491-4BB4-AC19-1FC05B157531}"/>
              </a:ext>
            </a:extLst>
          </p:cNvPr>
          <p:cNvSpPr>
            <a:spLocks noGrp="1"/>
          </p:cNvSpPr>
          <p:nvPr/>
        </p:nvSpPr>
        <p:spPr>
          <a:xfrm>
            <a:off x="8858250" y="309562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3150" b="1" i="0">
                <a:solidFill>
                  <a:srgbClr val="D73A49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73A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9C7AEC-683A-4D4E-B09E-EA09888BD144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381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Servo điều khiển tuần tự qua 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9028DE-DD31-4373-816A-09D5FB4221C4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495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00" b="0" i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endParaRPr sz="1500" b="0" i="0" dirty="0">
              <a:solidFill>
                <a:srgbClr val="24364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385F2A9-034F-BB9A-C03F-6DE20998E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6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908596-CCD0-4310-B90D-C2797378E4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2E4D95"/>
              </a:gs>
              <a:gs pos="100000">
                <a:srgbClr val="0B78D0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923DEC-F092-4AAF-B5DC-410AA72F95D2}"/>
              </a:ext>
            </a:extLst>
          </p:cNvPr>
          <p:cNvSpPr>
            <a:spLocks noGrp="1"/>
          </p:cNvSpPr>
          <p:nvPr/>
        </p:nvSpPr>
        <p:spPr>
          <a:xfrm>
            <a:off x="0" y="895350"/>
            <a:ext cx="12192000" cy="28575"/>
          </a:xfrm>
          <a:prstGeom prst="rect">
            <a:avLst/>
          </a:prstGeom>
          <a:solidFill>
            <a:srgbClr val="0797EA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B25131-7183-48A9-9AA3-8995484E4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000"/>
          <a:stretch/>
        </p:blipFill>
        <p:spPr>
          <a:xfrm>
            <a:off x="190500" y="66675"/>
            <a:ext cx="5143500" cy="7810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8318E0-26D0-4E2A-82ED-82DDC9B3CC48}"/>
              </a:ext>
            </a:extLst>
          </p:cNvPr>
          <p:cNvSpPr>
            <a:spLocks noGrp="1"/>
          </p:cNvSpPr>
          <p:nvPr/>
        </p:nvSpPr>
        <p:spPr>
          <a:xfrm>
            <a:off x="6572250" y="238125"/>
            <a:ext cx="528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Electrical &amp; Electronics Engineering</a:t>
            </a:r>
          </a:p>
          <a:p>
            <a:pPr algn="r">
              <a:lnSpc>
                <a:spcPct val="9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Department of Computer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8D5B7D-6954-4930-8066-17CF546F1FA1}"/>
              </a:ext>
            </a:extLst>
          </p:cNvPr>
          <p:cNvSpPr>
            <a:spLocks noGrp="1"/>
          </p:cNvSpPr>
          <p:nvPr/>
        </p:nvSpPr>
        <p:spPr>
          <a:xfrm>
            <a:off x="514350" y="106680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250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Kết luận và demo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F8DA7-5A2C-4945-8C17-0A413E13D061}"/>
              </a:ext>
            </a:extLst>
          </p:cNvPr>
          <p:cNvSpPr>
            <a:spLocks noGrp="1"/>
          </p:cNvSpPr>
          <p:nvPr/>
        </p:nvSpPr>
        <p:spPr>
          <a:xfrm>
            <a:off x="11334750" y="64198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75" b="0" i="0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271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B4ABF1-C5B1-4CF6-B353-82ED636195E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0C2F5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C2F5F"/>
                </a:solidFill>
                <a:latin typeface="Arial"/>
                <a:ea typeface="Arial"/>
                <a:cs typeface="Arial"/>
              </a:rPr>
              <a:t>SmartBin đã hoàn thành các mục tiêu chính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7FC2BC-247A-4904-81B8-87A6BFC1619B}"/>
              </a:ext>
            </a:extLst>
          </p:cNvPr>
          <p:cNvSpPr>
            <a:spLocks noGrp="1"/>
          </p:cNvSpPr>
          <p:nvPr/>
        </p:nvSpPr>
        <p:spPr>
          <a:xfrm>
            <a:off x="647700" y="2286000"/>
            <a:ext cx="6000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Ứng dụng Android phục vụ bốn vai trò trên dữ liệu thật.</a:t>
            </a:r>
          </a:p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MobileCLIP-S0 chạy trên thiết bị và đạt độ chính xác 93,16%.</a:t>
            </a:r>
          </a:p>
          <a:p>
            <a:pPr marL="22" indent="-12" algn="l">
              <a:lnSpc>
                <a:spcPct val="118000"/>
              </a:lnSpc>
              <a:spcAft>
                <a:spcPts val="12"/>
              </a:spcAft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Kiến trúc local-first duy trì nghiệp vụ khi mất mạng.</a:t>
            </a:r>
          </a:p>
          <a:p>
            <a:pPr marL="22" indent="-12" algn="l">
              <a:lnSpc>
                <a:spcPct val="118000"/>
              </a:lnSpc>
              <a:buNone/>
              <a:defRPr sz="18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4364B"/>
                </a:solidFill>
                <a:latin typeface="Arial"/>
                <a:ea typeface="Arial"/>
                <a:cs typeface="Arial"/>
              </a:rPr>
              <a:t>ESP32 điều khiển ba ngăn rác qua Bluetooth Low Energy.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54723-FDC1-48ED-9085-4E096F531004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 i="0">
                <a:solidFill>
                  <a:srgbClr val="0797E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97EA"/>
                </a:solidFill>
                <a:latin typeface="Arial"/>
                <a:ea typeface="Arial"/>
                <a:cs typeface="Arial"/>
              </a:rPr>
              <a:t>VIDEO DEMO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9E4972-F009-4515-A1F6-7A1E302756EC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0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u="sng">
                <a:solidFill>
                  <a:srgbClr val="24364B"/>
                </a:solidFill>
                <a:latin typeface="Arial"/>
                <a:ea typeface="Arial"/>
                <a:cs typeface="Arial"/>
                <a:hlinkClick r:id="rId4"/>
              </a:rPr>
              <a:t>youtube.com/watch?v=mfrva-ueWmg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BA11C-29BE-427A-8693-C269EB91A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78108" y="1581150"/>
            <a:ext cx="2227034" cy="4476750"/>
          </a:xfrm>
          <a:prstGeom prst="roundRect">
            <a:avLst>
              <a:gd name="adj" fmla="val 3429"/>
            </a:avLst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87DAB7-33A0-489D-8E7F-A2AD9BCEAB29}"/>
              </a:ext>
            </a:extLst>
          </p:cNvPr>
          <p:cNvSpPr>
            <a:spLocks noGrp="1"/>
          </p:cNvSpPr>
          <p:nvPr/>
        </p:nvSpPr>
        <p:spPr>
          <a:xfrm>
            <a:off x="7486650" y="6105525"/>
            <a:ext cx="3409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0" i="1">
                <a:solidFill>
                  <a:srgbClr val="62718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627187"/>
                </a:solidFill>
                <a:latin typeface="Arial"/>
                <a:ea typeface="Arial"/>
                <a:cs typeface="Arial"/>
              </a:rPr>
              <a:t>Nghiệm thu công việc từ ứng dụng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60503B-BD4E-7408-96BB-58A528D46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4482"/>
            <a:ext cx="1214607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651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Microsoft Office PowerPoint</Application>
  <DocSecurity>0</DocSecurity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Men Vo</cp:lastModifiedBy>
  <cp:revision>1</cp:revision>
  <dcterms:created xsi:type="dcterms:W3CDTF">2026-10-12T06:55:17Z</dcterms:created>
  <dcterms:modified xsi:type="dcterms:W3CDTF">2026-10-12T06:58:11Z</dcterms:modified>
</cp:coreProperties>
</file>