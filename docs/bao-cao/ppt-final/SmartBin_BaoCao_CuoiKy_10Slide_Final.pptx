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ce2768686e46c4" /><Relationship Type="http://schemas.openxmlformats.org/officeDocument/2006/relationships/extended-properties" Target="/docProps/app.xml" Id="R7f1c0255633f48e1" /><Relationship Type="http://schemas.openxmlformats.org/officeDocument/2006/relationships/officeDocument" Target="/ppt/presentation.xml" Id="Rd13e881b26904d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1c225120aa4106"/>
  </p:sldMasterIdLst>
  <p:notesMasterIdLst>
    <p:notesMasterId xmlns:r="http://schemas.openxmlformats.org/officeDocument/2006/relationships" r:id="R40d93d255c7b43fb"/>
  </p:notesMasterIdLst>
  <p:sldIdLst>
    <p:sldId xmlns:r="http://schemas.openxmlformats.org/officeDocument/2006/relationships" id="256" r:id="R2ada7196609f4749"/>
    <p:sldId xmlns:r="http://schemas.openxmlformats.org/officeDocument/2006/relationships" id="257" r:id="R6e6fe95ba4a84897"/>
    <p:sldId xmlns:r="http://schemas.openxmlformats.org/officeDocument/2006/relationships" id="258" r:id="R0272459570bd4f73"/>
    <p:sldId xmlns:r="http://schemas.openxmlformats.org/officeDocument/2006/relationships" id="259" r:id="R3d500994c71f4490"/>
    <p:sldId xmlns:r="http://schemas.openxmlformats.org/officeDocument/2006/relationships" id="260" r:id="Rec80c3201fa74408"/>
    <p:sldId xmlns:r="http://schemas.openxmlformats.org/officeDocument/2006/relationships" id="261" r:id="R9fcc005b85c649b6"/>
    <p:sldId xmlns:r="http://schemas.openxmlformats.org/officeDocument/2006/relationships" id="262" r:id="Rd245f8dd61064a58"/>
    <p:sldId xmlns:r="http://schemas.openxmlformats.org/officeDocument/2006/relationships" id="263" r:id="Rb9c41f6649514bc5"/>
    <p:sldId xmlns:r="http://schemas.openxmlformats.org/officeDocument/2006/relationships" id="264" r:id="Rbde2edd3dbd04886"/>
    <p:sldId xmlns:r="http://schemas.openxmlformats.org/officeDocument/2006/relationships" id="265" r:id="Rc69305ca3bb744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0ce7e6dc164056" /><Relationship Type="http://schemas.openxmlformats.org/officeDocument/2006/relationships/slideMaster" Target="/ppt/slideMasters/slideMaster1.xml" Id="Rf31c225120aa4106" /><Relationship Type="http://schemas.openxmlformats.org/officeDocument/2006/relationships/notesMaster" Target="/ppt/notesMasters/notesMaster1.xml" Id="R40d93d255c7b43fb" /><Relationship Type="http://schemas.openxmlformats.org/officeDocument/2006/relationships/presProps" Target="/ppt/presProps.xml" Id="R52b3fcb8e0e74c85" /><Relationship Type="http://schemas.openxmlformats.org/officeDocument/2006/relationships/tableStyles" Target="/ppt/tableStyles.xml" Id="R20106625232a4cbb" /><Relationship Type="http://schemas.openxmlformats.org/officeDocument/2006/relationships/slide" Target="/ppt/slides/slide1.xml" Id="R2ada7196609f4749" /><Relationship Type="http://schemas.openxmlformats.org/officeDocument/2006/relationships/slide" Target="/ppt/slides/slide2.xml" Id="R6e6fe95ba4a84897" /><Relationship Type="http://schemas.openxmlformats.org/officeDocument/2006/relationships/slide" Target="/ppt/slides/slide3.xml" Id="R0272459570bd4f73" /><Relationship Type="http://schemas.openxmlformats.org/officeDocument/2006/relationships/slide" Target="/ppt/slides/slide4.xml" Id="R3d500994c71f4490" /><Relationship Type="http://schemas.openxmlformats.org/officeDocument/2006/relationships/slide" Target="/ppt/slides/slide5.xml" Id="Rec80c3201fa74408" /><Relationship Type="http://schemas.openxmlformats.org/officeDocument/2006/relationships/slide" Target="/ppt/slides/slide6.xml" Id="R9fcc005b85c649b6" /><Relationship Type="http://schemas.openxmlformats.org/officeDocument/2006/relationships/slide" Target="/ppt/slides/slide7.xml" Id="Rd245f8dd61064a58" /><Relationship Type="http://schemas.openxmlformats.org/officeDocument/2006/relationships/slide" Target="/ppt/slides/slide8.xml" Id="Rb9c41f6649514bc5" /><Relationship Type="http://schemas.openxmlformats.org/officeDocument/2006/relationships/slide" Target="/ppt/slides/slide9.xml" Id="Rbde2edd3dbd04886" /><Relationship Type="http://schemas.openxmlformats.org/officeDocument/2006/relationships/slide" Target="/ppt/slides/slide10.xml" Id="Rc69305ca3bb744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f02101480349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69a67ba71b4e3c" /><Relationship Type="http://schemas.openxmlformats.org/officeDocument/2006/relationships/notesMaster" Target="/ppt/notesMasters/notesMaster1.xml" Id="R3e576c75f2db4a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e3e1111ec64503" /><Relationship Type="http://schemas.openxmlformats.org/officeDocument/2006/relationships/notesMaster" Target="/ppt/notesMasters/notesMaster1.xml" Id="R38306b75c65748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5d9f40e02c4a87" /><Relationship Type="http://schemas.openxmlformats.org/officeDocument/2006/relationships/notesMaster" Target="/ppt/notesMasters/notesMaster1.xml" Id="R45c14c3870f94c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d788de47a7488e" /><Relationship Type="http://schemas.openxmlformats.org/officeDocument/2006/relationships/notesMaster" Target="/ppt/notesMasters/notesMaster1.xml" Id="Rfc0e3610c00340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7ecba219174831" /><Relationship Type="http://schemas.openxmlformats.org/officeDocument/2006/relationships/notesMaster" Target="/ppt/notesMasters/notesMaster1.xml" Id="Rbc3c343d02fa4b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0d71901c6b4091" /><Relationship Type="http://schemas.openxmlformats.org/officeDocument/2006/relationships/notesMaster" Target="/ppt/notesMasters/notesMaster1.xml" Id="R49186f02398544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2a7ab975f14f38" /><Relationship Type="http://schemas.openxmlformats.org/officeDocument/2006/relationships/notesMaster" Target="/ppt/notesMasters/notesMaster1.xml" Id="R00443deb7d1b44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01f590c9774574" /><Relationship Type="http://schemas.openxmlformats.org/officeDocument/2006/relationships/notesMaster" Target="/ppt/notesMasters/notesMaster1.xml" Id="Rbae058048eae4d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5c0836ae304c37" /><Relationship Type="http://schemas.openxmlformats.org/officeDocument/2006/relationships/notesMaster" Target="/ppt/notesMasters/notesMaster1.xml" Id="R1f323c997db84f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bd442d4a964329" /><Relationship Type="http://schemas.openxmlformats.org/officeDocument/2006/relationships/notesMaster" Target="/ppt/notesMasters/notesMaster1.xml" Id="Rec27f59afbda44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5acfa2cbc44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9135d1d0f448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2aed9411143c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83ab02a2340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098eff99ba45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6c1cd558947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5E83FC-5A97-44E9-ADCC-4AFAF5A724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CC77C5C-E80B-4A62-AD89-442AE1DEEF2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7B70A05-CF48-4033-803B-7B258DB705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6B8A8B-4046-46AE-B724-2145604FC4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BD02554-7C82-4929-AB7C-FB0E77A3DE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5EAB79-4AF8-4688-8682-AE8DC46209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5142BC-3EA9-4D35-B3C3-6DC0A8D15D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D383F1-3FA9-43BA-A9CE-68C6819746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46CA7B-E57F-44E6-91E1-68AAB27549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B897D9-E7AA-4235-A5F5-A845D4F376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3691b2a3cd436b" /><Relationship Type="http://schemas.openxmlformats.org/officeDocument/2006/relationships/slideLayout" Target="/ppt/slideLayouts/slideLayout1.xml" Id="Rd806230484944b3b" /><Relationship Type="http://schemas.openxmlformats.org/officeDocument/2006/relationships/slideLayout" Target="/ppt/slideLayouts/slideLayout2.xml" Id="R5696c4fed69e4cde" /><Relationship Type="http://schemas.openxmlformats.org/officeDocument/2006/relationships/slideLayout" Target="/ppt/slideLayouts/slideLayout3.xml" Id="Rb59c6b58fd694f2d" /><Relationship Type="http://schemas.openxmlformats.org/officeDocument/2006/relationships/slideLayout" Target="/ppt/slideLayouts/slideLayout4.xml" Id="Rdedb0bdc0667438b" /><Relationship Type="http://schemas.openxmlformats.org/officeDocument/2006/relationships/slideLayout" Target="/ppt/slideLayouts/slideLayout5.xml" Id="Rbbecd5f7abbe4523" /><Relationship Type="http://schemas.openxmlformats.org/officeDocument/2006/relationships/slideLayout" Target="/ppt/slideLayouts/slideLayout6.xml" Id="R60b7c8bad01546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06230484944b3b"/>
    <p:sldLayoutId xmlns:r="http://schemas.openxmlformats.org/officeDocument/2006/relationships" id="2147483650" r:id="R5696c4fed69e4cde"/>
    <p:sldLayoutId xmlns:r="http://schemas.openxmlformats.org/officeDocument/2006/relationships" id="2147483651" r:id="Rb59c6b58fd694f2d"/>
    <p:sldLayoutId xmlns:r="http://schemas.openxmlformats.org/officeDocument/2006/relationships" id="2147483652" r:id="Rdedb0bdc0667438b"/>
    <p:sldLayoutId xmlns:r="http://schemas.openxmlformats.org/officeDocument/2006/relationships" id="2147483653" r:id="Rbbecd5f7abbe4523"/>
    <p:sldLayoutId xmlns:r="http://schemas.openxmlformats.org/officeDocument/2006/relationships" id="2147483654" r:id="R60b7c8bad01546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dad518048b4415" /><Relationship Type="http://schemas.openxmlformats.org/officeDocument/2006/relationships/image" Target="/ppt/media/image.png" Id="R4f40ab9de3f84d7a" /><Relationship Type="http://schemas.openxmlformats.org/officeDocument/2006/relationships/notesSlide" Target="/ppt/notesSlides/notesSlide1.xml" Id="R67d69ea9e17844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a2182cc53d4df8" /><Relationship Type="http://schemas.openxmlformats.org/officeDocument/2006/relationships/image" Target="/ppt/media/image2.png" Id="R377694d4145e4aae" /><Relationship Type="http://schemas.openxmlformats.org/officeDocument/2006/relationships/image" Target="/ppt/media/image.jpeg" Id="Reae6348ecafa455e" /><Relationship Type="http://schemas.openxmlformats.org/officeDocument/2006/relationships/notesSlide" Target="/ppt/notesSlides/notesSlide2.xml" Id="R483443774fe94a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e50029c371406b" /><Relationship Type="http://schemas.openxmlformats.org/officeDocument/2006/relationships/image" Target="/ppt/media/image3.png" Id="R39c79d1e6e6845f2" /><Relationship Type="http://schemas.openxmlformats.org/officeDocument/2006/relationships/image" Target="/ppt/media/image4.png" Id="Rd017260e26aa4b4f" /><Relationship Type="http://schemas.openxmlformats.org/officeDocument/2006/relationships/notesSlide" Target="/ppt/notesSlides/notesSlide3.xml" Id="Re038a85e51fd4a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e9006255ad48ce" /><Relationship Type="http://schemas.openxmlformats.org/officeDocument/2006/relationships/image" Target="/ppt/media/image5.png" Id="Rb86392fe2b504678" /><Relationship Type="http://schemas.openxmlformats.org/officeDocument/2006/relationships/image" Target="/ppt/media/image6.png" Id="Rbab83810899d4bc3" /><Relationship Type="http://schemas.openxmlformats.org/officeDocument/2006/relationships/image" Target="/ppt/media/image7.png" Id="R3527328c2f0f4885" /><Relationship Type="http://schemas.openxmlformats.org/officeDocument/2006/relationships/image" Target="/ppt/media/image8.png" Id="R4ca818f11bd94404" /><Relationship Type="http://schemas.openxmlformats.org/officeDocument/2006/relationships/image" Target="/ppt/media/image9.png" Id="Rd4e093e7d95d4f2b" /><Relationship Type="http://schemas.openxmlformats.org/officeDocument/2006/relationships/notesSlide" Target="/ppt/notesSlides/notesSlide4.xml" Id="R418bd7b33a804c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656abe2b6f4c6a" /><Relationship Type="http://schemas.openxmlformats.org/officeDocument/2006/relationships/image" Target="/ppt/media/image10.png" Id="R7ddc0e9ddd9d4831" /><Relationship Type="http://schemas.openxmlformats.org/officeDocument/2006/relationships/image" Target="/ppt/media/image11.png" Id="R20351a017cf14181" /><Relationship Type="http://schemas.openxmlformats.org/officeDocument/2006/relationships/notesSlide" Target="/ppt/notesSlides/notesSlide5.xml" Id="R99d94689582c42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edd1dcb578424d" /><Relationship Type="http://schemas.openxmlformats.org/officeDocument/2006/relationships/image" Target="/ppt/media/image12.png" Id="R92f36b4280ce42a6" /><Relationship Type="http://schemas.openxmlformats.org/officeDocument/2006/relationships/chart" Target="/ppt/slides/charts/chart1.xml" Id="R32469d27120e48f6" /><Relationship Type="http://schemas.openxmlformats.org/officeDocument/2006/relationships/notesSlide" Target="/ppt/notesSlides/notesSlide6.xml" Id="R48853346e9024b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3d1a1fa28d4795" /><Relationship Type="http://schemas.openxmlformats.org/officeDocument/2006/relationships/image" Target="/ppt/media/image13.png" Id="R0b23765259e146cb" /><Relationship Type="http://schemas.openxmlformats.org/officeDocument/2006/relationships/image" Target="/ppt/media/image14.png" Id="Rb5b5fc59a25e495e" /><Relationship Type="http://schemas.openxmlformats.org/officeDocument/2006/relationships/notesSlide" Target="/ppt/notesSlides/notesSlide7.xml" Id="Rd76681f6053d43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e0a86a60b847b4" /><Relationship Type="http://schemas.openxmlformats.org/officeDocument/2006/relationships/image" Target="/ppt/media/image15.png" Id="R9d351cd1b5dd41e5" /><Relationship Type="http://schemas.openxmlformats.org/officeDocument/2006/relationships/image" Target="/ppt/media/image16.png" Id="Rb2e46bbc608e4960" /><Relationship Type="http://schemas.openxmlformats.org/officeDocument/2006/relationships/image" Target="/ppt/media/image17.png" Id="R3d8cbc4fe3464e95" /><Relationship Type="http://schemas.openxmlformats.org/officeDocument/2006/relationships/image" Target="/ppt/media/image18.png" Id="R9577d7ff208447c2" /><Relationship Type="http://schemas.openxmlformats.org/officeDocument/2006/relationships/notesSlide" Target="/ppt/notesSlides/notesSlide8.xml" Id="Rbcf58c54ae4244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9569062fc4103" /><Relationship Type="http://schemas.openxmlformats.org/officeDocument/2006/relationships/image" Target="/ppt/media/image19.png" Id="Re3d5308a5ef444a6" /><Relationship Type="http://schemas.openxmlformats.org/officeDocument/2006/relationships/image" Target="/ppt/media/image20.png" Id="Rc50605af40924954" /><Relationship Type="http://schemas.openxmlformats.org/officeDocument/2006/relationships/image" Target="/ppt/media/image21.png" Id="R0ed9ac071bcc4c8a" /><Relationship Type="http://schemas.openxmlformats.org/officeDocument/2006/relationships/notesSlide" Target="/ppt/notesSlides/notesSlide9.xml" Id="R5a060df5991748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2e521af1ae451f" /><Relationship Type="http://schemas.openxmlformats.org/officeDocument/2006/relationships/image" Target="/ppt/media/image22.png" Id="Re3b6937dd2934fea" /><Relationship Type="http://schemas.openxmlformats.org/officeDocument/2006/relationships/hyperlink" Target="https://www.youtube.com/watch?v=mfrva-ueWmg" TargetMode="External" Id="R48e3292d45f2427f" /><Relationship Type="http://schemas.openxmlformats.org/officeDocument/2006/relationships/image" Target="/ppt/media/image23.png" Id="R1a5a7c5f2c38417b" /><Relationship Type="http://schemas.openxmlformats.org/officeDocument/2006/relationships/notesSlide" Target="/ppt/notesSlides/notesSlide10.xml" Id="Rfe49473c538b414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2352A0"/>
            </a:solidFill>
          </c:spPr>
          <c:invertIfNegative val="0"/>
          <c:cat>
            <c:strLit>
              <c:ptCount val="3"/>
              <c:pt idx="0">
                <c:v>TFLite FP32</c:v>
              </c:pt>
              <c:pt idx="1">
                <c:v>TFLite FP16</c:v>
              </c:pt>
              <c:pt idx="2">
                <c:v>TFLite INT8</c:v>
              </c:pt>
            </c:strLit>
          </c:cat>
          <c:val>
            <c:numLit>
              <c:formatCode>0'%'</c:formatCode>
              <c:ptCount val="3"/>
              <c:pt idx="0">
                <c:v>93.16</c:v>
              </c:pt>
              <c:pt idx="1">
                <c:v>91.92</c:v>
              </c:pt>
              <c:pt idx="2">
                <c:v>92.91</c:v>
              </c:pt>
            </c:numLit>
          </c:val>
        </c:ser>
        <c:ser>
          <c:idx val="1"/>
          <c:order val="1"/>
          <c:tx>
            <c:v>Balanced accuracy</c:v>
          </c:tx>
          <c:spPr>
            <a:solidFill xmlns:a="http://schemas.openxmlformats.org/drawingml/2006/main">
              <a:srgbClr val="0BAA6E"/>
            </a:solidFill>
          </c:spPr>
          <c:invertIfNegative val="0"/>
          <c:cat>
            <c:strLit>
              <c:ptCount val="3"/>
              <c:pt idx="0">
                <c:v>TFLite FP32</c:v>
              </c:pt>
              <c:pt idx="1">
                <c:v>TFLite FP16</c:v>
              </c:pt>
              <c:pt idx="2">
                <c:v>TFLite INT8</c:v>
              </c:pt>
            </c:strLit>
          </c:cat>
          <c:val>
            <c:numLit>
              <c:formatCode>0'%'</c:formatCode>
              <c:ptCount val="3"/>
              <c:pt idx="0">
                <c:v>94.63</c:v>
              </c:pt>
              <c:pt idx="1">
                <c:v>93.71</c:v>
              </c:pt>
              <c:pt idx="2">
                <c:v>93.86</c:v>
              </c:pt>
            </c:numLit>
          </c:val>
        </c:ser>
        <c:dLbls>
          <c:numFmt formatCode="0.00'%'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4364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8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A"/>
              </a:solidFill>
              <a:prstDash val="solid"/>
            </a:ln>
          </c:spPr>
        </c:majorGridlines>
        <c:numFmt formatCode="0'%'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24364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EB87EE-B55A-43BE-9E39-7A8D99F6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FE271-18E5-4602-856C-7FAAAAE6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01EA4-6C84-46A3-AF36-367E897B4B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0ab9de3f84d7a"/>
          <a:srcRect xmlns:a="http://schemas.openxmlformats.org/drawingml/2006/main" l="0" t="0" r="0" b="20000"/>
          <a:stretch xmlns:a="http://schemas.openxmlformats.org/drawingml/2006/main"/>
        </p:blipFill>
        <p:spPr>
          <a:xfrm xmlns:a="http://schemas.openxmlformats.org/drawingml/2006/main">
            <a:off x="190500" y="66675"/>
            <a:ext cx="514350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48137-9007-41BA-B3A0-ABDCFE32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CE9C8-055E-4B67-9AFB-B105F3DF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236AC-343D-499F-A489-73D934E1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117E7-64C0-4FCE-8BE6-1BD110AE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002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BÁO CÁO CUỐI KỲ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5C3B6-2AC7-4BB8-8F65-F069C3F8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14550"/>
            <a:ext cx="8953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3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92000"/>
              </a:lnSpc>
              <a:buNone/>
              <a:defRPr sz="33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SMARTBIN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33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ỨNG DỤNG QUẢN LÝ HỆ THỐNG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33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THÙNG RÁC THÔNG MINH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99987-F193-4597-8998-565A8B0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857625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BB6D6-4F4A-4D9C-89F0-3E7DA789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338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Môn: Phát triển ứng dụng di động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2B27C-DC03-4F51-99E6-0C9BA914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2440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Nhóm thực hiện: Võ Ngọc Mến, Đỗ Xuân Thanh, Lê Thành Nhân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1EE91-02DA-45BA-B5A4-00B213FC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149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Giảng viên hướng dẫn: Huỳnh Hoàng Hà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BA8E4-D832-483D-BA13-25E16DB6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198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TP. Hồ Chí Minh, 12/10/2026</a:t>
            </a:r>
          </a:p>
        </p:txBody>
      </p:sp>
    </p:spTree>
    <p:extLst>
      <p:ext uri="{BB962C8B-B14F-4D97-AF65-F5344CB8AC3E}">
        <p14:creationId xmlns:p14="http://schemas.microsoft.com/office/powerpoint/2010/main" val="15019666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C4A88-CAC5-4400-A14B-A0C38570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5382A-FCE5-4BD3-BA02-158A47B9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F4A7F-5EE1-4FB1-8EDA-E351ECB45A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694d4145e4aae"/>
          <a:srcRect xmlns:a="http://schemas.openxmlformats.org/drawingml/2006/main" l="0" t="0" r="0" b="20000"/>
          <a:stretch xmlns:a="http://schemas.openxmlformats.org/drawingml/2006/main"/>
        </p:blipFill>
        <p:spPr>
          <a:xfrm xmlns:a="http://schemas.openxmlformats.org/drawingml/2006/main">
            <a:off x="190500" y="66675"/>
            <a:ext cx="514350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7328D-E5C0-4FD2-A022-DABCE348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70ED1-224C-4476-BE94-6E5C98D0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Bài toán và mục tiêu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DE391-52F3-47C2-BC7B-50DD317F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0794D-33EA-4488-9DDC-C73A62B0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0006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" indent="-12" algn="l">
              <a:lnSpc>
                <a:spcPct val="118000"/>
              </a:lnSpc>
              <a:spcAft>
                <a:spcPts val="12"/>
              </a:spcAft>
              <a:buNone/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Phân loại tại nguồn: </a:t>
            </a:r>
            <a:r>
              <a:rPr sz="1800">
                <a:solidFill>
                  <a:srgbClr val="24364B"/>
                </a:solidFill>
                <a:latin typeface="Arial"/>
                <a:ea typeface="Arial"/>
                <a:cs typeface="Arial"/>
              </a:rPr>
              <a:t>người dùng dễ nhầm giữa hữu cơ, vô cơ và tái chế.</a:t>
            </a:r>
          </a:p>
          <a:p xmlns:a="http://schemas.openxmlformats.org/drawingml/2006/main">
            <a:pPr marL="22" indent="-12" algn="l">
              <a:lnSpc>
                <a:spcPct val="118000"/>
              </a:lnSpc>
              <a:spcAft>
                <a:spcPts val="12"/>
              </a:spcAft>
              <a:buNone/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Thu gom cố định: </a:t>
            </a:r>
            <a:r>
              <a:rPr sz="1800">
                <a:solidFill>
                  <a:srgbClr val="24364B"/>
                </a:solidFill>
                <a:latin typeface="Arial"/>
                <a:ea typeface="Arial"/>
                <a:cs typeface="Arial"/>
              </a:rPr>
              <a:t>nhân viên có thể đến khi thùng chưa đầy hoặc bỏ sót thùng cần xử lý.</a:t>
            </a:r>
          </a:p>
          <a:p xmlns:a="http://schemas.openxmlformats.org/drawingml/2006/main">
            <a:pPr marL="22" indent="-12" algn="l">
              <a:lnSpc>
                <a:spcPct val="118000"/>
              </a:lnSpc>
              <a:spcAft>
                <a:spcPts val="12"/>
              </a:spcAft>
              <a:buNone/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Kết nối không ổn định: </a:t>
            </a:r>
            <a:r>
              <a:rPr sz="1800">
                <a:solidFill>
                  <a:srgbClr val="24364B"/>
                </a:solidFill>
                <a:latin typeface="Arial"/>
                <a:ea typeface="Arial"/>
                <a:cs typeface="Arial"/>
              </a:rPr>
              <a:t>ứng dụng vẫn phải ghi nhận lượt bỏ rác khi mất mạng.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EE2A5-338E-4211-867E-C28B85F5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Mục tiêu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C22C9-28EA-416E-AFFA-D1DEC902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4364B"/>
                </a:solidFill>
                <a:latin typeface="Arial"/>
                <a:ea typeface="Arial"/>
                <a:cs typeface="Arial"/>
              </a:rPr>
              <a:t>Một ứng dụng Android kết nối người dân, nhân viên thu gom, quản lý và thùng rác ESP32 trên cùng dữ liệu thời gian thực.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3C2E1-3312-4B2C-AFEA-344A38C460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6348ecafa455e"/>
          <a:srcRect xmlns:a="http://schemas.openxmlformats.org/drawingml/2006/main" l="9870" t="0" r="98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1619250"/>
            <a:ext cx="5572125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E3F6C-4096-4ECC-925E-21AF85BA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67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Demo thật: ứng dụng nhận diện, kết nối BLE và điều khiển ba servo</a:t>
            </a:r>
          </a:p>
        </p:txBody>
      </p:sp>
    </p:spTree>
    <p:extLst>
      <p:ext uri="{BB962C8B-B14F-4D97-AF65-F5344CB8AC3E}">
        <p14:creationId xmlns:p14="http://schemas.microsoft.com/office/powerpoint/2010/main" val="2276966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9CB84-8585-4E20-B1D3-377CCA34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D2686-E446-4997-9617-0B1EC318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8804F-F0E0-4A9D-BA81-CC95F9B540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79d1e6e6845f2"/>
          <a:srcRect xmlns:a="http://schemas.openxmlformats.org/drawingml/2006/main" l="0" t="0" r="0" b="20000"/>
          <a:stretch xmlns:a="http://schemas.openxmlformats.org/drawingml/2006/main"/>
        </p:blipFill>
        <p:spPr>
          <a:xfrm xmlns:a="http://schemas.openxmlformats.org/drawingml/2006/main">
            <a:off x="190500" y="66675"/>
            <a:ext cx="514350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2FF5D-27A5-410D-A724-14B84F04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A6D0A-6A77-4C99-8F3F-F65BB1DE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Kiến trúc tổng thể của SmartBin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3CBE0-25E5-47CC-9C8E-D12028A5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CD6E3-3D50-44AC-BA05-F7DCA82284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7260e26aa4b4f"/>
          <a:stretch xmlns:a="http://schemas.openxmlformats.org/drawingml/2006/main"/>
        </p:blipFill>
        <p:spPr>
          <a:xfrm xmlns:a="http://schemas.openxmlformats.org/drawingml/2006/main">
            <a:off x="793750" y="1600200"/>
            <a:ext cx="7223125" cy="4333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2E653-9D4A-4F59-B390-2371D2A5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95450"/>
            <a:ext cx="381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61D01-745A-47CA-8513-CE5E5457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62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Ứng dụng di động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1B319-8D48-458A-95DE-1F3B864E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145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React Native và Expo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SQLite, BLE, camera, TFLite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75256-B93F-404B-AFAA-EE9BD463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43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Máy chủ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E77799-975A-460A-9B4C-766DFA46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95675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24"/>
          </a:bodyPr>
          <a:lstStyle xmlns:a="http://schemas.openxmlformats.org/drawingml/2006/main">
            <a:defPPr algn="l"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Supabase PostgreSQL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Auth, Realtime, Storage, pg_cron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13A1A-FFCB-41F3-A68B-DA654416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572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Thiết bị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D3321-EEDC-440B-9B18-F945CAD0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924425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08"/>
          </a:bodyPr>
          <a:lstStyle xmlns:a="http://schemas.openxmlformats.org/drawingml/2006/main">
            <a:defPPr algn="l"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ESP32 và ba servo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MobileCLIP-S0 chạy trên điện thoại</a:t>
            </a:r>
          </a:p>
        </p:txBody>
      </p:sp>
    </p:spTree>
    <p:extLst>
      <p:ext uri="{BB962C8B-B14F-4D97-AF65-F5344CB8AC3E}">
        <p14:creationId xmlns:p14="http://schemas.microsoft.com/office/powerpoint/2010/main" val="1446514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C6016-0A9C-477B-BE34-980567E5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FC4D6-8F37-4D76-95E5-E16165B6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71A75-61C5-458A-B850-433E612D88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392fe2b504678"/>
          <a:srcRect xmlns:a="http://schemas.openxmlformats.org/drawingml/2006/main" l="0" t="0" r="0" b="20000"/>
          <a:stretch xmlns:a="http://schemas.openxmlformats.org/drawingml/2006/main"/>
        </p:blipFill>
        <p:spPr>
          <a:xfrm xmlns:a="http://schemas.openxmlformats.org/drawingml/2006/main">
            <a:off x="190500" y="66675"/>
            <a:ext cx="514350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C5E28-2A0F-4139-A582-9ED44226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353ED-4ED7-4298-8202-A566BC6D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Bốn vai trò sử dụng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43549-3435-4544-A866-FED5C485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C292C-5377-4203-B047-8B4CD7E929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83810899d4bc3"/>
          <a:stretch xmlns:a="http://schemas.openxmlformats.org/drawingml/2006/main"/>
        </p:blipFill>
        <p:spPr>
          <a:xfrm xmlns:a="http://schemas.openxmlformats.org/drawingml/2006/main">
            <a:off x="712359" y="1600200"/>
            <a:ext cx="2013807" cy="4048125"/>
          </a:xfrm>
          <a:prstGeom xmlns:a="http://schemas.openxmlformats.org/drawingml/2006/main" prst="roundRect">
            <a:avLst>
              <a:gd name="adj" fmla="val 489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D5C18-3EAF-4C00-ACB2-2F351F94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95950"/>
            <a:ext cx="2409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Hộ gia đình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1474F-15C6-425E-A9E5-06E4D9681C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7328c2f0f4885"/>
          <a:stretch xmlns:a="http://schemas.openxmlformats.org/drawingml/2006/main"/>
        </p:blipFill>
        <p:spPr>
          <a:xfrm xmlns:a="http://schemas.openxmlformats.org/drawingml/2006/main">
            <a:off x="3636534" y="1600200"/>
            <a:ext cx="2013807" cy="4048125"/>
          </a:xfrm>
          <a:prstGeom xmlns:a="http://schemas.openxmlformats.org/drawingml/2006/main" prst="roundRect">
            <a:avLst>
              <a:gd name="adj" fmla="val 489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58B05-7E73-4722-9070-0B16DEAE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695950"/>
            <a:ext cx="2409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Kiosk cộng đồng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C16D1-B315-484A-8EBF-6058CAB873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818f11bd94404"/>
          <a:stretch xmlns:a="http://schemas.openxmlformats.org/drawingml/2006/main"/>
        </p:blipFill>
        <p:spPr>
          <a:xfrm xmlns:a="http://schemas.openxmlformats.org/drawingml/2006/main">
            <a:off x="6560709" y="1600200"/>
            <a:ext cx="2013807" cy="4048125"/>
          </a:xfrm>
          <a:prstGeom xmlns:a="http://schemas.openxmlformats.org/drawingml/2006/main" prst="roundRect">
            <a:avLst>
              <a:gd name="adj" fmla="val 489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E58FE-C6D4-4712-9002-431D755A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95950"/>
            <a:ext cx="2409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Nhân viên thu gom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48FDF-0252-42AC-A453-FB91D9A490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093e7d95d4f2b"/>
          <a:stretch xmlns:a="http://schemas.openxmlformats.org/drawingml/2006/main"/>
        </p:blipFill>
        <p:spPr>
          <a:xfrm xmlns:a="http://schemas.openxmlformats.org/drawingml/2006/main">
            <a:off x="9484884" y="1600200"/>
            <a:ext cx="2013807" cy="4048125"/>
          </a:xfrm>
          <a:prstGeom xmlns:a="http://schemas.openxmlformats.org/drawingml/2006/main" prst="roundRect">
            <a:avLst>
              <a:gd name="adj" fmla="val 4898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50C5D-2A7C-4074-9546-5EABF5E4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695950"/>
            <a:ext cx="2409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Người quản lý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9BB02-80AC-4D02-82F1-F2475CF5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Tích điểm, lịch sử và thống kê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94E4C1-E4A8-4532-B6D7-0589723D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0198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Bỏ rác không cần tài khoản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F4EAB-85F4-4C6A-8632-A7096687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0198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Nhận việc, lộ trình, nghiệm thu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A9E79-39AF-4309-8938-1A8FCF29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0198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Bản đồ, điều phối, tự động hóa</a:t>
            </a:r>
          </a:p>
        </p:txBody>
      </p:sp>
    </p:spTree>
    <p:extLst>
      <p:ext uri="{BB962C8B-B14F-4D97-AF65-F5344CB8AC3E}">
        <p14:creationId xmlns:p14="http://schemas.microsoft.com/office/powerpoint/2010/main" val="974182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B91224-40EA-4961-8466-CA182F28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1DECE-AA39-46B9-9BDA-7D3DAF0F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8B820-10A0-4815-A8A2-2A0C7052C0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c0e9ddd9d4831"/>
          <a:srcRect xmlns:a="http://schemas.openxmlformats.org/drawingml/2006/main" l="0" t="0" r="0" b="20000"/>
          <a:stretch xmlns:a="http://schemas.openxmlformats.org/drawingml/2006/main"/>
        </p:blipFill>
        <p:spPr>
          <a:xfrm xmlns:a="http://schemas.openxmlformats.org/drawingml/2006/main">
            <a:off x="190500" y="66675"/>
            <a:ext cx="514350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F58B2-B483-401B-BEC3-4D3E025E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EDE05-25A7-4F53-AE5B-8DB98C9B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Phân loại rác và điều khiển thùng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89576-478E-427F-9035-A2AEC1A2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22B00-0E0E-4355-AF16-DA5EB582EA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51a017cf14181"/>
          <a:stretch xmlns:a="http://schemas.openxmlformats.org/drawingml/2006/main"/>
        </p:blipFill>
        <p:spPr>
          <a:xfrm xmlns:a="http://schemas.openxmlformats.org/drawingml/2006/main">
            <a:off x="981983" y="1571625"/>
            <a:ext cx="2227034" cy="44767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09F1B-9ACF-4A7F-B10C-45F593F3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Camera AI trên trang chủ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88690-BAC1-40FC-AED6-E1C2F504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38300"/>
            <a:ext cx="3810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BF84E-395A-42ED-AA34-088D2FE5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002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6E081-4703-4E40-AD32-1EBCC74F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7645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C6B49-620E-4E26-A72C-9181B349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0020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Chọn cách phân loại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F1105-F0A7-4F42-8736-7C4E063E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7642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Người dùng chọn tay, tra cứu ảnh hoặc bật camera nhận diện trực tiếp.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84332-0CA5-4728-9D54-FFB85A64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574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1CECD6-815E-408E-B9BD-21981E8A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3370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B470B-F66A-4567-B342-5271B2A2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5745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Nhận diện trên thiết bị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73A6D-41FA-406F-B0FD-5599BA8E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3367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MobileCLIP-S0 trả về loại rác và độ tin cậy, không gửi ảnh lên máy chủ.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5FEF2F-2AFF-4936-A558-BEEEFE2B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147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29E3FA-C4D2-4200-8118-44F159A5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3D62C-7869-4B77-B250-7FC8F0D6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1470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Gửi lệnh qua Bluetooth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DFA565-ACA6-49B0-B7E3-967F65D0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9092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Ứng dụng dùng BinController gửi lệnh mở ngăn tương ứng tới ESP32.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B13ED6-3062-425C-B23A-B03DFCE3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719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9FD32B-2E46-4354-A0C9-700FF9B4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4820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A4B6B6-AA03-4FC1-B7FD-258F05DE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7195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Điều khiển cơ cấu chấp hành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ED1BAE-773B-450E-9749-DFD7EB5E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4817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ESP32 mở đúng servo, giữ 2 giây rồi đóng nắp và trả trạng thái.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53D405-CCE4-474A-9FF0-71897D4E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292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0C2379-1D1A-407F-B315-95FDF866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02DEA0-9FC7-4FB4-9180-24310DD3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2920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Ghi nhận và đồng bộ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F0C2EC-B8D9-4ED0-9B3E-50F8C87D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30542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SQLite lưu local_id, sau đó hàng đợi gửi sự kiện lên Supabase.</a:t>
            </a:r>
          </a:p>
        </p:txBody>
      </p:sp>
    </p:spTree>
    <p:extLst>
      <p:ext uri="{BB962C8B-B14F-4D97-AF65-F5344CB8AC3E}">
        <p14:creationId xmlns:p14="http://schemas.microsoft.com/office/powerpoint/2010/main" val="4296082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CD28E-7446-4B8D-B5F3-0CB0BD37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57DAA-3782-42D3-8E45-A4B1F728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C770B-0194-4869-8933-4712EFCB24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36b4280ce42a6"/>
          <a:srcRect xmlns:a="http://schemas.openxmlformats.org/drawingml/2006/main" l="0" t="0" r="0" b="20000"/>
          <a:stretch xmlns:a="http://schemas.openxmlformats.org/drawingml/2006/main"/>
        </p:blipFill>
        <p:spPr>
          <a:xfrm xmlns:a="http://schemas.openxmlformats.org/drawingml/2006/main">
            <a:off x="190500" y="66675"/>
            <a:ext cx="514350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ACBCB-2646-4F71-99B8-685B3D86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590F8-27A8-492F-AEC2-B112B182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MobileCLIP-S0 trong ứng dụng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8F278-30BF-4447-AFDF-6B49EF60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D070B-67C0-44FC-ABB6-B7B45D04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93,16%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8B014-1CAB-4A9E-910F-067E9ED5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88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Độ chính xác trên 2.749 ảnh thử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EA790-45CC-449E-A692-DBD7B37E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43050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13AEE-5BFE-4282-9E01-B40EB9AD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049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 i="0">
                <a:solidFill>
                  <a:srgbClr val="0BAA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0BAA6E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AA6E"/>
                </a:solidFill>
                <a:latin typeface="Arial"/>
                <a:ea typeface="Arial"/>
                <a:cs typeface="Arial"/>
              </a:rPr>
              <a:t>94,63%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167D0-28F2-4263-8358-F7A96AEF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288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Balanced accuracy của TFLite FP32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65116-31F3-45C8-8526-E8ACDFD1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43050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0BFE0-1950-4DCC-9A50-FFC19F15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049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~490 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8440D-F76A-4C63-BD66-6AC1BE13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2882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Độ trễ GPU trên điện thoại TECNO CM6</a:t>
            </a:r>
          </a:p>
        </p:txBody>
      </p:sp>
      <p:graphicFrame>
        <p:nvGraphicFramePr>
          <p:cNvPr id="15" name="Chart">
            <a:extLst xmlns:a="http://schemas.openxmlformats.org/drawingml/2006/main">
              <a:ext uri="{FF2B5EF4-FFF2-40B4-BE49-F238E27FC236}">
                <a16:creationId xmlns:a16="http://schemas.microsoft.com/office/drawing/2014/main" id="{76DC9129-0B04-402F-9A1A-0EEE09B34C9A}"/>
              </a:ext>
            </a:extLst>
          </p:cNvPr>
          <p:cNvGraphicFramePr/>
          <p:nvPr/>
        </p:nvGraphicFramePr>
        <p:xfrm>
          <a:off xmlns:a="http://schemas.openxmlformats.org/drawingml/2006/main" x="619125" y="2781300"/>
          <a:ext xmlns:a="http://schemas.openxmlformats.org/drawingml/2006/main" cx="72390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469d27120e48f6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AAD6A-4D33-4D17-8AAF-913D3ED9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52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Cách hoạt động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B29F9-5888-438B-A016-EABD5BD3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29000"/>
            <a:ext cx="3143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0" indent="-10" algn="l">
              <a:lnSpc>
                <a:spcPct val="113000"/>
              </a:lnSpc>
              <a:spcAft>
                <a:spcPts val="12"/>
              </a:spcAft>
              <a:buNone/>
              <a:defRPr sz="15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64B"/>
                </a:solidFill>
                <a:latin typeface="Arial"/>
                <a:ea typeface="Arial"/>
                <a:cs typeface="Arial"/>
              </a:rPr>
              <a:t>Bộ mã hóa ảnh MobileCLIP-S0 tạo vector 512 chiều.</a:t>
            </a:r>
          </a:p>
          <a:p xmlns:a="http://schemas.openxmlformats.org/drawingml/2006/main">
            <a:pPr marL="20" indent="-10" algn="l">
              <a:lnSpc>
                <a:spcPct val="113000"/>
              </a:lnSpc>
              <a:spcAft>
                <a:spcPts val="12"/>
              </a:spcAft>
              <a:buNone/>
              <a:defRPr sz="15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64B"/>
                </a:solidFill>
                <a:latin typeface="Arial"/>
                <a:ea typeface="Arial"/>
                <a:cs typeface="Arial"/>
              </a:rPr>
              <a:t>Ứng dụng so khớp với 180 câu mô tả đã mã hóa trước.</a:t>
            </a:r>
          </a:p>
          <a:p xmlns:a="http://schemas.openxmlformats.org/drawingml/2006/main">
            <a:pPr marL="20" indent="-10" algn="l">
              <a:lnSpc>
                <a:spcPct val="113000"/>
              </a:lnSpc>
              <a:spcAft>
                <a:spcPts val="12"/>
              </a:spcAft>
              <a:buNone/>
              <a:defRPr sz="15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64B"/>
                </a:solidFill>
                <a:latin typeface="Arial"/>
                <a:ea typeface="Arial"/>
                <a:cs typeface="Arial"/>
              </a:rPr>
              <a:t>Bốn nhóm: hữu cơ, vô cơ, tái chế và không có rác.</a:t>
            </a:r>
          </a:p>
          <a:p xmlns:a="http://schemas.openxmlformats.org/drawingml/2006/main">
            <a:pPr marL="20" indent="-10" algn="l">
              <a:lnSpc>
                <a:spcPct val="113000"/>
              </a:lnSpc>
              <a:buNone/>
              <a:defRPr sz="15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64B"/>
                </a:solidFill>
                <a:latin typeface="Arial"/>
                <a:ea typeface="Arial"/>
                <a:cs typeface="Arial"/>
              </a:rPr>
              <a:t>Cần hai khung liên tiếp đạt ngưỡng 0,8 trước khi mở nắp.</a:t>
            </a:r>
          </a:p>
        </p:txBody>
      </p:sp>
    </p:spTree>
    <p:extLst>
      <p:ext uri="{BB962C8B-B14F-4D97-AF65-F5344CB8AC3E}">
        <p14:creationId xmlns:p14="http://schemas.microsoft.com/office/powerpoint/2010/main" val="8243891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38B64B-220F-4CE4-BB5E-8D3BF562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D829F-5405-4A61-B83D-7B722309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8E9D2-B8D8-42D4-A964-614580238E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3765259e146cb"/>
          <a:srcRect xmlns:a="http://schemas.openxmlformats.org/drawingml/2006/main" l="0" t="0" r="0" b="20000"/>
          <a:stretch xmlns:a="http://schemas.openxmlformats.org/drawingml/2006/main"/>
        </p:blipFill>
        <p:spPr>
          <a:xfrm xmlns:a="http://schemas.openxmlformats.org/drawingml/2006/main">
            <a:off x="190500" y="66675"/>
            <a:ext cx="514350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0A486-8474-4344-BCDE-E2829669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5CF84-9203-44F1-AF1B-74E65E2A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Ghi cục bộ trước và đồng bộ sau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2C906-C9EC-4E8F-A279-61D40CB3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0D8A8-681F-4460-BE30-AB2F415114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5fc59a25e495e"/>
          <a:stretch xmlns:a="http://schemas.openxmlformats.org/drawingml/2006/main"/>
        </p:blipFill>
        <p:spPr>
          <a:xfrm xmlns:a="http://schemas.openxmlformats.org/drawingml/2006/main">
            <a:off x="957905" y="1619250"/>
            <a:ext cx="2122789" cy="42672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765B5-E55C-4FA9-BED1-CFA8FBDF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340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Thống kê cập nhật sau đồng bộ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0CAE2-0C87-4DE9-B9B5-023BADFF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66875"/>
            <a:ext cx="381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1A5E9-34E6-42ED-81BF-9514DAB4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4EDBA-3317-4782-BFD0-6BD7A98D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383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Ghi cục bộ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E7F27B-C365-49C9-A040-D3861974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6695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64B"/>
                </a:solidFill>
                <a:latin typeface="Arial"/>
                <a:ea typeface="Arial"/>
                <a:cs typeface="Arial"/>
              </a:rPr>
              <a:t>SQLite lưu sự kiện với local_id duy nhất và trạng thái synced = 0. Người dùng vẫn bỏ rác khi mất mạng.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AFCDF-AC7C-45B6-AA12-952CD6B1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6715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7F21E-5CE3-4307-A909-242F3055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813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C04EA-703F-47CF-8617-182B5AFD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Xếp hàng và thử lại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DB2DF-6AA0-4EFF-B2FC-B8A4D440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38575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64B"/>
                </a:solidFill>
                <a:latin typeface="Arial"/>
                <a:ea typeface="Arial"/>
                <a:cs typeface="Arial"/>
              </a:rPr>
              <a:t>Bộ máy đồng bộ lấy tối đa 50 tác vụ mỗi lượt. Lỗi mạng giữ nguyên hàng đợi, lỗi máy chủ tăng số lần thử.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BAA44-F4C0-45EA-B6E8-6B893448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14875"/>
            <a:ext cx="6715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B5C49-59CC-440E-950C-087A2D3A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53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C7A00B-B66D-4D54-9BA4-872956CF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815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Xác nhận trên máy chủ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02811-0BA2-481E-9B6C-DC84202B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4102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64B"/>
                </a:solidFill>
                <a:latin typeface="Arial"/>
                <a:ea typeface="Arial"/>
                <a:cs typeface="Arial"/>
              </a:rPr>
              <a:t>Supabase nhận sự kiện, cộng điểm, cập nhật mức đầy và phát thông báo Realtime.</a:t>
            </a:r>
          </a:p>
        </p:txBody>
      </p:sp>
    </p:spTree>
    <p:extLst>
      <p:ext uri="{BB962C8B-B14F-4D97-AF65-F5344CB8AC3E}">
        <p14:creationId xmlns:p14="http://schemas.microsoft.com/office/powerpoint/2010/main" val="8269189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BA0D2-6EDB-4974-A51D-10B66041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EDBF4-2CD4-44FE-A999-816C28FC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72FFE-59B1-455E-93D6-393DE96A43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51cd1b5dd41e5"/>
          <a:srcRect xmlns:a="http://schemas.openxmlformats.org/drawingml/2006/main" l="0" t="0" r="0" b="20000"/>
          <a:stretch xmlns:a="http://schemas.openxmlformats.org/drawingml/2006/main"/>
        </p:blipFill>
        <p:spPr>
          <a:xfrm xmlns:a="http://schemas.openxmlformats.org/drawingml/2006/main">
            <a:off x="190500" y="66675"/>
            <a:ext cx="514350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9AA95-A90D-4E78-B806-BAFB1953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9ADB9-676B-483D-ABC8-B6554C9B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Thu gom, điều phối và tự động hóa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2F5D4-7FEF-453E-991D-36057286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E5FCB-FAD2-4C76-89BA-D3985E8D21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46bbc608e4960"/>
          <a:stretch xmlns:a="http://schemas.openxmlformats.org/drawingml/2006/main"/>
        </p:blipFill>
        <p:spPr>
          <a:xfrm xmlns:a="http://schemas.openxmlformats.org/drawingml/2006/main">
            <a:off x="1076751" y="1600200"/>
            <a:ext cx="2037499" cy="40957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BC853-BCF6-48BE-BA6E-B41E231B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Điều phối nhân viên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8AB00-0F42-42C5-93FC-856014C444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cbc4fe3464e95"/>
          <a:stretch xmlns:a="http://schemas.openxmlformats.org/drawingml/2006/main"/>
        </p:blipFill>
        <p:spPr>
          <a:xfrm xmlns:a="http://schemas.openxmlformats.org/drawingml/2006/main">
            <a:off x="5077251" y="1600200"/>
            <a:ext cx="2037499" cy="40957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77397-3EB4-414F-B011-85CA40C5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7435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Quy tắc tự động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D4193-88B7-4DA3-8295-3F785BF623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7d7ff208447c2"/>
          <a:stretch xmlns:a="http://schemas.openxmlformats.org/drawingml/2006/main"/>
        </p:blipFill>
        <p:spPr>
          <a:xfrm xmlns:a="http://schemas.openxmlformats.org/drawingml/2006/main">
            <a:off x="9077751" y="1600200"/>
            <a:ext cx="2037499" cy="40957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9A1D63-2AFA-40F6-ABCE-A4957DBE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7435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Lộ trình thu gom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689907-CFB8-4E77-9C14-13C6279A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721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Giao việc theo ca trực và tải công việc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E11C9-63E6-4573-9527-6AA24D38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9721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Tự tạo việc ở 60%, nâng khẩn ở 80%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98B26-6508-4312-B83B-DDB901B9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9721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38"/>
          </a:bodyPr>
          <a:lstStyle xmlns:a="http://schemas.openxmlformats.org/drawingml/2006/main">
            <a:defPPr algn="ctr">
              <a:defRPr sz="127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Tối ưu điểm ghé, mở Google Maps chỉ đường</a:t>
            </a:r>
          </a:p>
        </p:txBody>
      </p:sp>
    </p:spTree>
    <p:extLst>
      <p:ext uri="{BB962C8B-B14F-4D97-AF65-F5344CB8AC3E}">
        <p14:creationId xmlns:p14="http://schemas.microsoft.com/office/powerpoint/2010/main" val="1669483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FEA6EE-2D0E-4807-8F73-9849D521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959C6-3E76-451D-B998-5CB050DF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D93DF-8136-4040-A6ED-79B0052A07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5308a5ef444a6"/>
          <a:srcRect xmlns:a="http://schemas.openxmlformats.org/drawingml/2006/main" l="0" t="0" r="0" b="20000"/>
          <a:stretch xmlns:a="http://schemas.openxmlformats.org/drawingml/2006/main"/>
        </p:blipFill>
        <p:spPr>
          <a:xfrm xmlns:a="http://schemas.openxmlformats.org/drawingml/2006/main">
            <a:off x="190500" y="66675"/>
            <a:ext cx="514350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61940-DBB8-47C2-B194-64903C8D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51F8B-CE32-45A9-A38E-41A05B17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Kết quả kiểm thử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125D3-1614-41B2-8C75-85DAF1B4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1E236-8214-4074-AC74-63CFAD2F3C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605af40924954"/>
          <a:stretch xmlns:a="http://schemas.openxmlformats.org/drawingml/2006/main"/>
        </p:blipFill>
        <p:spPr>
          <a:xfrm xmlns:a="http://schemas.openxmlformats.org/drawingml/2006/main">
            <a:off x="795642" y="1619250"/>
            <a:ext cx="1990115" cy="4000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DB528-6346-49BA-8FC0-C7451F20D1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9ac071bcc4c8a"/>
          <a:stretch xmlns:a="http://schemas.openxmlformats.org/drawingml/2006/main"/>
        </p:blipFill>
        <p:spPr>
          <a:xfrm xmlns:a="http://schemas.openxmlformats.org/drawingml/2006/main">
            <a:off x="3291192" y="1619250"/>
            <a:ext cx="1990115" cy="4000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95B14-3303-4599-A70C-E29B49AC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381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C9951-F760-4494-B546-06D402CC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668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44/44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8AF82-3DC8-449D-8891-61DA72CE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Phép kiểm tra máy chủ đạt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58CCA-AEA2-4906-9E4A-4FB7E2A8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668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 i="0">
                <a:solidFill>
                  <a:srgbClr val="0BAA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0BAA6E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AA6E"/>
                </a:solidFill>
                <a:latin typeface="Arial"/>
                <a:ea typeface="Arial"/>
                <a:cs typeface="Arial"/>
              </a:rPr>
              <a:t>25/25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A449C-C726-4AAC-9543-AD9A566A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Phép kiểm tra logic ứng dụng đạt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B74E5-48E9-4D8B-AC0B-F3DC1381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95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6DB660-090E-45FD-B8CE-13CB76C4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Vai trò đã kiểm thử trên bản cài thật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842CD-214D-40E1-813C-1218D810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95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 i="0">
                <a:solidFill>
                  <a:srgbClr val="D73A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D73A49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D73A4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18310-7D51-45F7-82A8-E2521466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Servo điều khiển tuần tự qua 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E48BF6-CC01-4786-A60B-C1D7905F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01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Các lỗi đã sửa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DCEAF7-8838-4813-8C16-9D29610F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4364B"/>
                </a:solidFill>
                <a:latin typeface="Arial"/>
                <a:ea typeface="Arial"/>
                <a:cs typeface="Arial"/>
              </a:rPr>
              <a:t>Mở nắp lặp, lịch sử thiếu dữ liệu, bản đồ trống, màn cảm ơn bị kẹt và lỗi font trên TECNO.</a:t>
            </a:r>
          </a:p>
        </p:txBody>
      </p:sp>
    </p:spTree>
    <p:extLst>
      <p:ext uri="{BB962C8B-B14F-4D97-AF65-F5344CB8AC3E}">
        <p14:creationId xmlns:p14="http://schemas.microsoft.com/office/powerpoint/2010/main" val="2414508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0374F-1A0D-4D06-8212-BB25A9E9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3919F-83CD-4EC2-A395-A918B08A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8523F-A190-4C26-8EFE-321847D93B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6937dd2934fea"/>
          <a:srcRect xmlns:a="http://schemas.openxmlformats.org/drawingml/2006/main" l="0" t="0" r="0" b="20000"/>
          <a:stretch xmlns:a="http://schemas.openxmlformats.org/drawingml/2006/main"/>
        </p:blipFill>
        <p:spPr>
          <a:xfrm xmlns:a="http://schemas.openxmlformats.org/drawingml/2006/main">
            <a:off x="190500" y="66675"/>
            <a:ext cx="514350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3D861-1708-4A03-8738-AA16FAF8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CA806-0554-4537-89A2-544CEAFB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Kết luận và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8CADA-23C3-48FE-B89D-681337E5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0ED5B-5CDA-404C-BAEB-F0088DF1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SmartBin đã hoàn thành các mục tiêu chính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07D02-F842-42BF-8602-84453F14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6000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" indent="-12" algn="l">
              <a:lnSpc>
                <a:spcPct val="118000"/>
              </a:lnSpc>
              <a:spcAft>
                <a:spcPts val="12"/>
              </a:spcAft>
              <a:buNone/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364B"/>
                </a:solidFill>
                <a:latin typeface="Arial"/>
                <a:ea typeface="Arial"/>
                <a:cs typeface="Arial"/>
              </a:rPr>
              <a:t>Ứng dụng Android phục vụ bốn vai trò trên dữ liệu thật.</a:t>
            </a:r>
          </a:p>
          <a:p xmlns:a="http://schemas.openxmlformats.org/drawingml/2006/main">
            <a:pPr marL="22" indent="-12" algn="l">
              <a:lnSpc>
                <a:spcPct val="118000"/>
              </a:lnSpc>
              <a:spcAft>
                <a:spcPts val="12"/>
              </a:spcAft>
              <a:buNone/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364B"/>
                </a:solidFill>
                <a:latin typeface="Arial"/>
                <a:ea typeface="Arial"/>
                <a:cs typeface="Arial"/>
              </a:rPr>
              <a:t>MobileCLIP-S0 chạy trên thiết bị và đạt độ chính xác 93,16%.</a:t>
            </a:r>
          </a:p>
          <a:p xmlns:a="http://schemas.openxmlformats.org/drawingml/2006/main">
            <a:pPr marL="22" indent="-12" algn="l">
              <a:lnSpc>
                <a:spcPct val="118000"/>
              </a:lnSpc>
              <a:spcAft>
                <a:spcPts val="12"/>
              </a:spcAft>
              <a:buNone/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364B"/>
                </a:solidFill>
                <a:latin typeface="Arial"/>
                <a:ea typeface="Arial"/>
                <a:cs typeface="Arial"/>
              </a:rPr>
              <a:t>Kiến trúc local-first duy trì nghiệp vụ khi mất mạng.</a:t>
            </a:r>
          </a:p>
          <a:p xmlns:a="http://schemas.openxmlformats.org/drawingml/2006/main">
            <a:pPr marL="22" indent="-12" algn="l">
              <a:lnSpc>
                <a:spcPct val="118000"/>
              </a:lnSpc>
              <a:buNone/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364B"/>
                </a:solidFill>
                <a:latin typeface="Arial"/>
                <a:ea typeface="Arial"/>
                <a:cs typeface="Arial"/>
              </a:rPr>
              <a:t>ESP32 điều khiển ba ngăn rác qua Bluetooth Low Energy.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A1987-4EC6-4BF9-8C1B-8CA8FA77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VIDEO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3ADB6-5440-4E56-9FFD-8DB6AFE3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u="sng">
                <a:solidFill>
                  <a:srgbClr val="24364B"/>
                </a:solidFill>
                <a:latin typeface="Arial"/>
                <a:ea typeface="Arial"/>
                <a:cs typeface="Arial"/>
                <a:hlinkClick xmlns:r="http://schemas.openxmlformats.org/officeDocument/2006/relationships" r:id="R48e3292d45f2427f"/>
              </a:rPr>
              <a:t>youtube.com/watch?v=mfrva-ueWmg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2A11F-026A-4D92-8C07-42E845E862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a7c5f2c38417b"/>
          <a:stretch xmlns:a="http://schemas.openxmlformats.org/drawingml/2006/main"/>
        </p:blipFill>
        <p:spPr>
          <a:xfrm xmlns:a="http://schemas.openxmlformats.org/drawingml/2006/main">
            <a:off x="8078108" y="1581150"/>
            <a:ext cx="2227034" cy="4476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69159-9487-4EA3-A2BF-8C51239A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105525"/>
            <a:ext cx="3409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Nghiệm thu công việc từ ứng dụng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970BD-505F-456B-8FC2-DF0869D3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102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Xin cảm ơn</a:t>
            </a:r>
          </a:p>
        </p:txBody>
      </p:sp>
    </p:spTree>
    <p:extLst>
      <p:ext uri="{BB962C8B-B14F-4D97-AF65-F5344CB8AC3E}">
        <p14:creationId xmlns:p14="http://schemas.microsoft.com/office/powerpoint/2010/main" val="17896626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2026-10-12T06:53:22.3360000Z</dcterms:created>
  <dcterms:modified xsi:type="dcterms:W3CDTF">2026-10-12T06:53:22.3360000Z</dcterms:modified>
</coreProperties>
</file>