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000" b="1">
                <a:solidFill>
                  <a:srgbClr val="FFFFFF"/>
                </a:solidFill>
              </a:rPr>
              <a:t>SmartBin — Báo cáo Tuần 7 (22/09 – 28/09/2026)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Môn Phát triển ứng dụng di động — GVHD: Huỳnh Hoàng Hà</a:t>
            </a:r>
          </a:p>
          <a:p>
            <a:pPr>
              <a:spcAft>
                <a:spcPts val="800"/>
              </a:spcAft>
            </a:pPr>
            <a:r>
              <a:rPr sz="1800"/>
              <a:t>• Đề tài: Ứng dụng quản lý hệ thống thùng rác thông minh</a:t>
            </a:r>
          </a:p>
          <a:p>
            <a:pPr>
              <a:spcAft>
                <a:spcPts val="800"/>
              </a:spcAft>
            </a:pPr>
            <a:r>
              <a:rPr sz="1800"/>
              <a:t>• Mã nguồn: https://github.com/menvo-embedded/smartbin-hcmute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000" b="1">
                <a:solidFill>
                  <a:srgbClr val="FFFFFF"/>
                </a:solidFill>
              </a:rPr>
              <a:t>1. Tuần này làm thêm được gì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/>
              <a:t>• Hoàn thiện đủ 4 luồng người dùng trên dữ liệu thật (Supabase): </a:t>
            </a:r>
            <a:r>
              <a:rPr sz="1600"/>
              <a:t/>
            </a:r>
          </a:p>
          <a:p>
            <a:pPr>
              <a:spcAft>
                <a:spcPts val="800"/>
              </a:spcAft>
            </a:pPr>
            <a:r>
              <a:rPr b="1" sz="1800"/>
              <a:t>• AI nhận diện rác theo bài báo khoa học: </a:t>
            </a:r>
            <a:r>
              <a:rPr sz="1600"/>
              <a:t/>
            </a:r>
          </a:p>
          <a:p>
            <a:pPr>
              <a:spcAft>
                <a:spcPts val="800"/>
              </a:spcAft>
            </a:pPr>
            <a:r>
              <a:rPr b="1" sz="1800"/>
              <a:t>• Tự nhận diện qua camera, không cần chụp: </a:t>
            </a:r>
            <a:r>
              <a:rPr sz="1600"/>
              <a:t/>
            </a:r>
          </a:p>
          <a:p>
            <a:pPr>
              <a:spcAft>
                <a:spcPts val="800"/>
              </a:spcAft>
            </a:pPr>
            <a:r>
              <a:rPr b="1" sz="1800"/>
              <a:t>• Hệ thống tự vận hành (chạy trên server): </a:t>
            </a:r>
            <a:r>
              <a:rPr sz="1600"/>
              <a:t/>
            </a:r>
          </a:p>
          <a:p>
            <a:pPr>
              <a:spcAft>
                <a:spcPts val="800"/>
              </a:spcAft>
            </a:pPr>
            <a:r>
              <a:rPr b="1" sz="1800"/>
              <a:t>• Thông báo realtime: </a:t>
            </a:r>
            <a:r>
              <a:rPr sz="1600"/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000" b="1">
                <a:solidFill>
                  <a:srgbClr val="FFFFFF"/>
                </a:solidFill>
              </a:rPr>
              <a:t>1. Tuần này làm thêm được gì (tiếp)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/>
              <a:t>• Tính năng mới: </a:t>
            </a:r>
            <a:r>
              <a:rPr sz="1600"/>
              <a:t/>
            </a:r>
          </a:p>
          <a:p>
            <a:pPr>
              <a:spcAft>
                <a:spcPts val="800"/>
              </a:spcAft>
            </a:pPr>
            <a:r>
              <a:rPr b="1" sz="1800"/>
              <a:t>• Giao diện: </a:t>
            </a:r>
            <a:r>
              <a:rPr sz="1600"/>
              <a:t/>
            </a:r>
          </a:p>
          <a:p>
            <a:pPr>
              <a:spcAft>
                <a:spcPts val="800"/>
              </a:spcAft>
            </a:pPr>
            <a:r>
              <a:rPr b="1" sz="1800"/>
              <a:t>• Kiểm thử: </a:t>
            </a:r>
            <a:r>
              <a:rPr sz="1600"/>
              <a:t/>
            </a:r>
          </a:p>
          <a:p>
            <a:pPr>
              <a:spcAft>
                <a:spcPts val="800"/>
              </a:spcAft>
            </a:pPr>
            <a:r>
              <a:rPr b="1" sz="1800"/>
              <a:t>• Bản cài độc lập: </a:t>
            </a:r>
            <a:r>
              <a:rPr sz="1600"/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000" b="1">
                <a:solidFill>
                  <a:srgbClr val="FFFFFF"/>
                </a:solidFill>
              </a:rPr>
              <a:t>2. Hệ thống tự vận hành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Thùng ≥60% → tự lên lịch ca gần nhất; ≥80% → việc khẩn</a:t>
            </a:r>
          </a:p>
          <a:p>
            <a:pPr>
              <a:spcAft>
                <a:spcPts val="800"/>
              </a:spcAft>
            </a:pPr>
            <a:r>
              <a:rPr sz="1800"/>
              <a:t>• Việc mới → tự giao nhân viên đang trực ít việc nhất</a:t>
            </a:r>
          </a:p>
          <a:p>
            <a:pPr>
              <a:spcAft>
                <a:spcPts val="800"/>
              </a:spcAft>
            </a:pPr>
            <a:r>
              <a:rPr sz="1800"/>
              <a:t>• Mỗi 5 phút: nhắc việc trễ, dự báo đầy, phát hiện thùng mất kết nối</a:t>
            </a:r>
          </a:p>
          <a:p>
            <a:pPr>
              <a:spcAft>
                <a:spcPts val="800"/>
              </a:spcAft>
            </a:pPr>
            <a:r>
              <a:rPr sz="1800"/>
              <a:t>• Mọi sự kiện → thông báo realtime đúng người (nhân viên / quản lý / hộ gia đình)</a:t>
            </a:r>
          </a:p>
          <a:p>
            <a:pPr>
              <a:spcAft>
                <a:spcPts val="800"/>
              </a:spcAft>
            </a:pPr>
            <a:r>
              <a:rPr sz="1800"/>
              <a:t>• Quản lý bật/tắt quy tắc, chọn nhân viên đang trực trong tab "Tự động"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000" b="1">
                <a:solidFill>
                  <a:srgbClr val="FFFFFF"/>
                </a:solidFill>
              </a:rPr>
              <a:t>3. AI nhận diện rác — MobileCLIP-S0 (CVPR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Zero-shot: so ảnh với 180 câu mô tả, không cần tự huấn luyện</a:t>
            </a:r>
          </a:p>
          <a:p>
            <a:pPr>
              <a:spcAft>
                <a:spcPts val="800"/>
              </a:spcAft>
            </a:pPr>
            <a:r>
              <a:rPr sz="1800"/>
              <a:t>• Độ chính xác 93,16% (2.749 ảnh), chạy TFLite trên điện thoại, không cần mạng</a:t>
            </a:r>
          </a:p>
          <a:p>
            <a:pPr>
              <a:spcAft>
                <a:spcPts val="800"/>
              </a:spcAft>
            </a:pPr>
            <a:r>
              <a:rPr sz="1800"/>
              <a:t>• Camera trực tiếp: đưa rác ra trước camera → tự mở đúng ngăn (~0,5 s/khung GPU)</a:t>
            </a:r>
          </a:p>
          <a:p>
            <a:pPr>
              <a:spcAft>
                <a:spcPts val="800"/>
              </a:spcAft>
            </a:pPr>
            <a:r>
              <a:rPr sz="1800"/>
              <a:t>• Trích nguồn IEEE: ml-research/README.md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000" b="1">
                <a:solidFill>
                  <a:srgbClr val="FFFFFF"/>
                </a:solidFill>
              </a:rPr>
              <a:t>4. Kiểm thử &amp; sửa lỗi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Server: 44/44 (trigger, RLS từng vai trò, tự động hoá)</a:t>
            </a:r>
          </a:p>
          <a:p>
            <a:pPr>
              <a:spcAft>
                <a:spcPts val="800"/>
              </a:spcAft>
            </a:pPr>
            <a:r>
              <a:rPr sz="1800"/>
              <a:t>• Logic app: 25/25 (dự báo, lộ trình, tác động môi trường, tra cứu, AI)</a:t>
            </a:r>
          </a:p>
          <a:p>
            <a:pPr>
              <a:spcAft>
                <a:spcPts val="800"/>
              </a:spcAft>
            </a:pPr>
            <a:r>
              <a:rPr sz="1800"/>
              <a:t>• Test trên điện thoại thật cả 4 vai trò + offline + realtime 2 máy</a:t>
            </a:r>
          </a:p>
          <a:p>
            <a:pPr>
              <a:spcAft>
                <a:spcPts val="800"/>
              </a:spcAft>
            </a:pPr>
            <a:r>
              <a:rPr sz="1800"/>
              <a:t>• Sửa 8 lỗi: camera mở nắp lặp, lịch sử sai số, bản đồ trống, kiosk kẹt màn cảm ơn...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000" b="1">
                <a:solidFill>
                  <a:srgbClr val="FFFFFF"/>
                </a:solidFill>
              </a:rPr>
              <a:t>5. Phân công &amp; tiến độ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/>
              <a:t>Chi tiết người phụ trách: Bảng 1 trong file Word tổng kết</a:t>
            </a:r>
          </a:p>
          <a:p>
            <a:pPr>
              <a:spcAft>
                <a:spcPts val="800"/>
              </a:spcAft>
            </a:pPr>
            <a:r>
              <a:rPr sz="1800"/>
              <a:t>• 1. Khung dự án, SQLite + hàng đợi đồng bộ, Supabase (schema, RLS) — Hoàn thành</a:t>
            </a:r>
          </a:p>
          <a:p>
            <a:pPr>
              <a:spcAft>
                <a:spcPts val="800"/>
              </a:spcAft>
            </a:pPr>
            <a:r>
              <a:rPr sz="1800"/>
              <a:t>• 2. Luồng Hộ gia đình (trang chủ, lịch sử, thống kê, cá nhân, điểm/huy hiệu) — Hoàn thành</a:t>
            </a:r>
          </a:p>
          <a:p>
            <a:pPr>
              <a:spcAft>
                <a:spcPts val="800"/>
              </a:spcAft>
            </a:pPr>
            <a:r>
              <a:rPr sz="1800"/>
              <a:t>• 3. Luồng Kiosk cộng đồng (bỏ rác không đăng nhập, màn chờ, cảm ơn) — Hoàn thành</a:t>
            </a:r>
          </a:p>
          <a:p>
            <a:pPr>
              <a:spcAft>
                <a:spcPts val="800"/>
              </a:spcAft>
            </a:pPr>
            <a:r>
              <a:rPr sz="1800"/>
              <a:t>• 4. Luồng Nhân viên thu gom (việc, lộ trình tối ưu, nghiệm thu ảnh) — Hoàn thành</a:t>
            </a:r>
          </a:p>
          <a:p>
            <a:pPr>
              <a:spcAft>
                <a:spcPts val="800"/>
              </a:spcAft>
            </a:pPr>
            <a:r>
              <a:rPr sz="1800"/>
              <a:t>• 5. Luồng Quản lý (thiết bị, bản đồ, điều phối, lịch ca) — Hoàn thành</a:t>
            </a:r>
          </a:p>
          <a:p>
            <a:pPr>
              <a:spcAft>
                <a:spcPts val="800"/>
              </a:spcAft>
            </a:pPr>
            <a:r>
              <a:rPr sz="1800"/>
              <a:t>• 6. Tự động hoá phía server + thông báo realtime — Hoàn thành</a:t>
            </a:r>
          </a:p>
          <a:p>
            <a:pPr>
              <a:spcAft>
                <a:spcPts val="800"/>
              </a:spcAft>
            </a:pPr>
            <a:r>
              <a:rPr sz="1800"/>
              <a:t>• 7. AI nhận diện rác (MobileCLIP-S0) + camera trực tiếp — Hoàn thành</a:t>
            </a:r>
          </a:p>
          <a:p>
            <a:pPr>
              <a:spcAft>
                <a:spcPts val="800"/>
              </a:spcAft>
            </a:pPr>
            <a:r>
              <a:rPr sz="1800"/>
              <a:t>• 8. Phần cứng ESP32 + servo, kết nối BLE thật — Đang tích hợp</a:t>
            </a:r>
          </a:p>
          <a:p>
            <a:pPr>
              <a:spcAft>
                <a:spcPts val="800"/>
              </a:spcAft>
            </a:pPr>
            <a:r>
              <a:rPr sz="1800"/>
              <a:t>• 9. Kiểm thử (server, logic, thủ công trên máy thật) — Hoàn thành</a:t>
            </a:r>
          </a:p>
          <a:p>
            <a:pPr>
              <a:spcAft>
                <a:spcPts val="800"/>
              </a:spcAft>
            </a:pPr>
            <a:r>
              <a:rPr sz="1800"/>
              <a:t>• 10. Cuốn báo cáo: Chương 1 Tổng quan — Hoàn thành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000" b="1">
                <a:solidFill>
                  <a:srgbClr val="FFFFFF"/>
                </a:solidFill>
              </a:rPr>
              <a:t>6. Kế hoạch tuần sau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Viết Chương 2 — Cơ sở lý thuyết (React Native/Expo, Supabase, local-first, CLIP/MobileCLIP, TFLite, BLE).</a:t>
            </a:r>
          </a:p>
          <a:p>
            <a:pPr>
              <a:spcAft>
                <a:spcPts val="800"/>
              </a:spcAft>
            </a:pPr>
            <a:r>
              <a:rPr sz="1800"/>
              <a:t>• Tích hợp BLE với thùng ESP32 thật (thay MockBinController), demo mở nắp thật.</a:t>
            </a:r>
          </a:p>
          <a:p>
            <a:pPr>
              <a:spcAft>
                <a:spcPts val="800"/>
              </a:spcAft>
            </a:pPr>
            <a:r>
              <a:rPr sz="1800"/>
              <a:t>• Đo benchmark AI trên nhiều điện thoại (thời gian/khung, GPU vs CPU) cho Chương 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